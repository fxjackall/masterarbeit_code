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_rels/presentation.xml.rels" ContentType="application/vnd.openxmlformats-package.relationships+xml"/>
  <Override PartName="/ppt/media/image6.png" ContentType="image/png"/>
  <Override PartName="/ppt/media/image5.png" ContentType="image/png"/>
  <Override PartName="/ppt/media/image4.png" ContentType="image/png"/>
  <Override PartName="/ppt/media/image3.png" ContentType="image/png"/>
  <Override PartName="/ppt/media/image1.png" ContentType="image/png"/>
  <Override PartName="/ppt/media/image2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20.png" ContentType="image/png"/>
  <Override PartName="/ppt/media/image19.png" ContentType="image/png"/>
  <Override PartName="/ppt/media/image18.png" ContentType="image/png"/>
  <Override PartName="/ppt/media/image17.png" ContentType="image/png"/>
  <Override PartName="/ppt/media/image15.png" ContentType="image/png"/>
  <Override PartName="/ppt/media/image16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8.xml" ContentType="application/vnd.openxmlformats-officedocument.presentationml.slide+xml"/>
  <Override PartName="/ppt/slides/slide13.xml" ContentType="application/vnd.openxmlformats-officedocument.presentationml.slide+xml"/>
  <Override PartName="/ppt/slides/slide37.xml" ContentType="application/vnd.openxmlformats-officedocument.presentationml.slide+xml"/>
  <Override PartName="/ppt/slides/slide12.xml" ContentType="application/vnd.openxmlformats-officedocument.presentationml.slide+xml"/>
  <Override PartName="/ppt/slides/slide45.xml" ContentType="application/vnd.openxmlformats-officedocument.presentationml.slide+xml"/>
  <Override PartName="/ppt/slides/slide20.xml" ContentType="application/vnd.openxmlformats-officedocument.presentationml.slide+xml"/>
  <Override PartName="/ppt/slides/slide46.xml" ContentType="application/vnd.openxmlformats-officedocument.presentationml.slide+xml"/>
  <Override PartName="/ppt/slides/slide21.xml" ContentType="application/vnd.openxmlformats-officedocument.presentationml.slide+xml"/>
  <Override PartName="/ppt/slides/slide47.xml" ContentType="application/vnd.openxmlformats-officedocument.presentationml.slide+xml"/>
  <Override PartName="/ppt/slides/slide22.xml" ContentType="application/vnd.openxmlformats-officedocument.presentationml.slide+xml"/>
  <Override PartName="/ppt/slides/slide48.xml" ContentType="application/vnd.openxmlformats-officedocument.presentationml.slide+xml"/>
  <Override PartName="/ppt/slides/slide23.xml" ContentType="application/vnd.openxmlformats-officedocument.presentationml.slide+xml"/>
  <Override PartName="/ppt/slides/slide49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55.xml" ContentType="application/vnd.openxmlformats-officedocument.presentationml.slide+xml"/>
  <Override PartName="/ppt/slides/slide30.xml" ContentType="application/vnd.openxmlformats-officedocument.presentationml.slide+xml"/>
  <Override PartName="/ppt/slides/slide56.xml" ContentType="application/vnd.openxmlformats-officedocument.presentationml.slide+xml"/>
  <Override PartName="/ppt/slides/slide31.xml" ContentType="application/vnd.openxmlformats-officedocument.presentationml.slide+xml"/>
  <Override PartName="/ppt/slides/slide57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10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36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9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_rels/slide57.xml.rels" ContentType="application/vnd.openxmlformats-package.relationships+xml"/>
  <Override PartName="/ppt/slides/_rels/slide56.xml.rels" ContentType="application/vnd.openxmlformats-package.relationships+xml"/>
  <Override PartName="/ppt/slides/_rels/slide55.xml.rels" ContentType="application/vnd.openxmlformats-package.relationships+xml"/>
  <Override PartName="/ppt/slides/_rels/slide54.xml.rels" ContentType="application/vnd.openxmlformats-package.relationships+xml"/>
  <Override PartName="/ppt/slides/_rels/slide53.xml.rels" ContentType="application/vnd.openxmlformats-package.relationships+xml"/>
  <Override PartName="/ppt/slides/_rels/slide52.xml.rels" ContentType="application/vnd.openxmlformats-package.relationships+xml"/>
  <Override PartName="/ppt/slides/_rels/slide51.xml.rels" ContentType="application/vnd.openxmlformats-package.relationships+xml"/>
  <Override PartName="/ppt/slides/_rels/slide50.xml.rels" ContentType="application/vnd.openxmlformats-package.relationships+xml"/>
  <Override PartName="/ppt/slides/_rels/slide49.xml.rels" ContentType="application/vnd.openxmlformats-package.relationships+xml"/>
  <Override PartName="/ppt/slides/_rels/slide48.xml.rels" ContentType="application/vnd.openxmlformats-package.relationships+xml"/>
  <Override PartName="/ppt/slides/_rels/slide44.xml.rels" ContentType="application/vnd.openxmlformats-package.relationships+xml"/>
  <Override PartName="/ppt/slides/_rels/slide43.xml.rels" ContentType="application/vnd.openxmlformats-package.relationships+xml"/>
  <Override PartName="/ppt/slides/_rels/slide42.xml.rels" ContentType="application/vnd.openxmlformats-package.relationships+xml"/>
  <Override PartName="/ppt/slides/_rels/slide41.xml.rels" ContentType="application/vnd.openxmlformats-package.relationships+xml"/>
  <Override PartName="/ppt/slides/_rels/slide40.xml.rels" ContentType="application/vnd.openxmlformats-package.relationships+xml"/>
  <Override PartName="/ppt/slides/_rels/slide39.xml.rels" ContentType="application/vnd.openxmlformats-package.relationships+xml"/>
  <Override PartName="/ppt/slides/_rels/slide38.xml.rels" ContentType="application/vnd.openxmlformats-package.relationships+xml"/>
  <Override PartName="/ppt/slides/_rels/slide37.xml.rels" ContentType="application/vnd.openxmlformats-package.relationships+xml"/>
  <Override PartName="/ppt/slides/_rels/slide16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2.xml.rels" ContentType="application/vnd.openxmlformats-package.relationships+xml"/>
  <Override PartName="/ppt/slides/_rels/slide34.xml.rels" ContentType="application/vnd.openxmlformats-package.relationships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33.xml.rels" ContentType="application/vnd.openxmlformats-package.relationships+xml"/>
  <Override PartName="/ppt/slides/_rels/slide3.xml.rels" ContentType="application/vnd.openxmlformats-package.relationships+xml"/>
  <Override PartName="/ppt/slides/_rels/slide45.xml.rels" ContentType="application/vnd.openxmlformats-package.relationships+xml"/>
  <Override PartName="/ppt/slides/_rels/slide4.xml.rels" ContentType="application/vnd.openxmlformats-package.relationships+xml"/>
  <Override PartName="/ppt/slides/_rels/slide35.xml.rels" ContentType="application/vnd.openxmlformats-package.relationships+xml"/>
  <Override PartName="/ppt/slides/_rels/slide5.xml.rels" ContentType="application/vnd.openxmlformats-package.relationships+xml"/>
  <Override PartName="/ppt/slides/_rels/slide36.xml.rels" ContentType="application/vnd.openxmlformats-package.relationships+xml"/>
  <Override PartName="/ppt/slides/_rels/slide6.xml.rels" ContentType="application/vnd.openxmlformats-package.relationships+xml"/>
  <Override PartName="/ppt/slides/_rels/slide17.xml.rels" ContentType="application/vnd.openxmlformats-package.relationships+xml"/>
  <Override PartName="/ppt/slides/_rels/slide46.xml.rels" ContentType="application/vnd.openxmlformats-package.relationships+xml"/>
  <Override PartName="/ppt/slides/_rels/slide18.xml.rels" ContentType="application/vnd.openxmlformats-package.relationships+xml"/>
  <Override PartName="/ppt/slides/_rels/slide47.xml.rels" ContentType="application/vnd.openxmlformats-package.relationships+xml"/>
  <Override PartName="/ppt/slides/_rels/slide19.xml.rels" ContentType="application/vnd.openxmlformats-package.relationships+xml"/>
  <Override PartName="/ppt/slides/_rels/slide20.xml.rels" ContentType="application/vnd.openxmlformats-package.relationships+xml"/>
  <Override PartName="/ppt/slides/_rels/slide21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24.xml.rels" ContentType="application/vnd.openxmlformats-package.relationships+xml"/>
  <Override PartName="/ppt/slides/_rels/slide30.xml.rels" ContentType="application/vnd.openxmlformats-package.relationships+xml"/>
  <Override PartName="/ppt/slides/_rels/slide25.xml.rels" ContentType="application/vnd.openxmlformats-package.relationships+xml"/>
  <Override PartName="/ppt/slides/_rels/slide31.xml.rels" ContentType="application/vnd.openxmlformats-package.relationships+xml"/>
  <Override PartName="/ppt/slides/_rels/slide26.xml.rels" ContentType="application/vnd.openxmlformats-package.relationships+xml"/>
  <Override PartName="/ppt/slides/_rels/slide27.xml.rels" ContentType="application/vnd.openxmlformats-package.relationships+xml"/>
  <Override PartName="/ppt/slides/_rels/slide32.xml.rels" ContentType="application/vnd.openxmlformats-package.relationships+xml"/>
  <Override PartName="/ppt/slides/_rels/slide28.xml.rels" ContentType="application/vnd.openxmlformats-package.relationships+xml"/>
  <Override PartName="/ppt/slides/_rels/slide10.xml.rels" ContentType="application/vnd.openxmlformats-package.relationships+xml"/>
  <Override PartName="/ppt/slides/_rels/slide29.xml.rels" ContentType="application/vnd.openxmlformats-package.relationships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</p:sldIdLst>
  <p:sldSz cx="10080625" cy="567055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de-DE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de-DE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de-DE" sz="4400" spc="-1" strike="noStrike">
                <a:latin typeface="Arial"/>
              </a:rPr>
              <a:t>Format des Titeltextes durch Klicken bearbeiten</a:t>
            </a:r>
            <a:endParaRPr b="0" lang="de-DE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Format des Gliederungstextes durch Klicken bearbeiten</a:t>
            </a:r>
            <a:endParaRPr b="0" lang="de-DE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pc="-1" strike="noStrike">
                <a:latin typeface="Arial"/>
              </a:rPr>
              <a:t>Zweite Gliederungsebene</a:t>
            </a:r>
            <a:endParaRPr b="0" lang="de-DE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latin typeface="Arial"/>
              </a:rPr>
              <a:t>Dritte Gliederungsebene</a:t>
            </a:r>
            <a:endParaRPr b="0" lang="de-DE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latin typeface="Arial"/>
              </a:rPr>
              <a:t>Vierte Gliederungsebene</a:t>
            </a:r>
            <a:endParaRPr b="0" lang="de-DE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latin typeface="Arial"/>
              </a:rPr>
              <a:t>Fünfte Gliederungsebene</a:t>
            </a:r>
            <a:endParaRPr b="0" lang="de-DE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latin typeface="Arial"/>
              </a:rPr>
              <a:t>Sechste Gliederungsebene</a:t>
            </a:r>
            <a:endParaRPr b="0" lang="de-DE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latin typeface="Arial"/>
              </a:rPr>
              <a:t>Siebte Gliederungsebene</a:t>
            </a:r>
            <a:endParaRPr b="0" lang="de-DE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</p:spPr>
        <p:txBody>
          <a:bodyPr lIns="0" rIns="0" tIns="0" bIns="0"/>
          <a:p>
            <a:r>
              <a:rPr b="0" lang="de-DE" sz="1400" spc="-1" strike="noStrike">
                <a:latin typeface="Times New Roman"/>
              </a:rPr>
              <a:t>&lt;Datum/Uhrzeit&gt;</a:t>
            </a:r>
            <a:endParaRPr b="0" lang="de-DE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</p:spPr>
        <p:txBody>
          <a:bodyPr lIns="0" rIns="0" tIns="0" bIns="0"/>
          <a:p>
            <a:pPr algn="ctr"/>
            <a:r>
              <a:rPr b="0" lang="de-DE" sz="1400" spc="-1" strike="noStrike">
                <a:latin typeface="Times New Roman"/>
              </a:rPr>
              <a:t>&lt;Fußzeile&gt;</a:t>
            </a:r>
            <a:endParaRPr b="0" lang="de-DE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</p:spPr>
        <p:txBody>
          <a:bodyPr lIns="0" rIns="0" tIns="0" bIns="0"/>
          <a:p>
            <a:pPr algn="r"/>
            <a:fld id="{5FAA6880-9967-48F4-AC95-85A1F406B5D7}" type="slidenum">
              <a:rPr b="0" lang="de-DE" sz="1400" spc="-1" strike="noStrike">
                <a:latin typeface="Times New Roman"/>
              </a:rPr>
              <a:t>&lt;Foliennummer&gt;</a:t>
            </a:fld>
            <a:endParaRPr b="0" lang="de-DE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6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6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6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6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6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6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6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6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6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6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6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6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504000" y="643320"/>
            <a:ext cx="9071640" cy="3750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de-DE" sz="4400" spc="-1" strike="noStrike">
                <a:latin typeface="Arial"/>
              </a:rPr>
              <a:t>Bachelorseminar</a:t>
            </a:r>
            <a:br/>
            <a:br/>
            <a:r>
              <a:rPr b="0" lang="de-DE" sz="4400" spc="-1" strike="noStrike">
                <a:latin typeface="Arial"/>
              </a:rPr>
              <a:t>Schwarmintelligenz und Komplexe Systeme</a:t>
            </a:r>
            <a:br/>
            <a:br/>
            <a:r>
              <a:rPr b="0" lang="de-DE" sz="4400" spc="-1" strike="noStrike">
                <a:latin typeface="Arial"/>
              </a:rPr>
              <a:t>Felix Cäsar Madorskiy</a:t>
            </a:r>
            <a:endParaRPr b="0" lang="de-DE" sz="4400" spc="-1" strike="noStrike"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de-DE" sz="4400" spc="-1" strike="noStrike">
                <a:latin typeface="Arial"/>
              </a:rPr>
              <a:t>Gliederung</a:t>
            </a:r>
            <a:endParaRPr b="0" lang="de-DE" sz="4400" spc="-1" strike="noStrike">
              <a:latin typeface="Arial"/>
            </a:endParaRPr>
          </a:p>
        </p:txBody>
      </p:sp>
      <p:sp>
        <p:nvSpPr>
          <p:cNvPr id="43" name="TextShape 2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Einleitung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Einführung in Ameisenalgorithmen</a:t>
            </a:r>
            <a:endParaRPr b="0" lang="de-DE" sz="3200" spc="-1" strike="noStrike">
              <a:latin typeface="Arial"/>
            </a:endParaRPr>
          </a:p>
          <a:p>
            <a:pPr lvl="2" marL="648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latin typeface="Arial"/>
              </a:rPr>
              <a:t>Beschreibung der Idee eines Ameisenalgorithmen</a:t>
            </a:r>
            <a:endParaRPr b="0" lang="de-DE" sz="2400" spc="-1" strike="noStrike">
              <a:latin typeface="Arial"/>
            </a:endParaRPr>
          </a:p>
          <a:p>
            <a:pPr lvl="2" marL="648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latin typeface="Arial"/>
              </a:rPr>
              <a:t>Mathematische Beschreibung</a:t>
            </a:r>
            <a:endParaRPr b="0" lang="de-DE" sz="2400" spc="-1" strike="noStrike">
              <a:latin typeface="Arial"/>
            </a:endParaRPr>
          </a:p>
          <a:p>
            <a:pPr lvl="2" marL="648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latin typeface="Arial"/>
              </a:rPr>
              <a:t>Verbesserungen der ACO Metaheuristik zur PB-ACO</a:t>
            </a:r>
            <a:endParaRPr b="0" lang="de-DE" sz="2400" spc="-1" strike="noStrike">
              <a:latin typeface="Arial"/>
            </a:endParaRPr>
          </a:p>
          <a:p>
            <a:pPr lvl="2" marL="648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latin typeface="Arial"/>
              </a:rPr>
              <a:t>Ameisenalgorithmen mit stetigem Lösungsarchiv</a:t>
            </a:r>
            <a:endParaRPr b="0" lang="de-DE" sz="2400" spc="-1" strike="noStrike">
              <a:latin typeface="Arial"/>
            </a:endParaRPr>
          </a:p>
          <a:p>
            <a:pPr lvl="2" marL="648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latin typeface="Arial"/>
              </a:rPr>
              <a:t>Ameisenalgorithmen in stetigen Variablen</a:t>
            </a:r>
            <a:endParaRPr b="0" lang="de-DE" sz="2400" spc="-1" strike="noStrike">
              <a:latin typeface="Arial"/>
            </a:endParaRPr>
          </a:p>
          <a:p>
            <a:endParaRPr b="0" lang="de-DE" sz="2400" spc="-1" strike="noStrike">
              <a:latin typeface="Arial"/>
            </a:endParaRPr>
          </a:p>
        </p:txBody>
      </p:sp>
    </p:spTree>
  </p:cSld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Shape 1"/>
          <p:cNvSpPr txBox="1"/>
          <p:nvPr/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Varianten der Lösungsfindung</a:t>
            </a:r>
            <a:endParaRPr b="0" lang="de-DE" sz="3200" spc="-1" strike="noStrike">
              <a:latin typeface="Arial"/>
            </a:endParaRPr>
          </a:p>
          <a:p>
            <a:pPr lvl="3" marL="864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latin typeface="Arial"/>
              </a:rPr>
              <a:t>Unterschied zwischen Varianten einer Lörungsfindung und eines Algorithmus</a:t>
            </a:r>
            <a:endParaRPr b="0" lang="de-DE" sz="2400" spc="-1" strike="noStrike">
              <a:latin typeface="Arial"/>
            </a:endParaRPr>
          </a:p>
          <a:p>
            <a:pPr lvl="3" marL="864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latin typeface="Arial"/>
              </a:rPr>
              <a:t>ACO</a:t>
            </a:r>
            <a:r>
              <a:rPr b="0" lang="de-DE" sz="2400" spc="-1" strike="noStrike" baseline="-33000">
                <a:latin typeface="Arial"/>
              </a:rPr>
              <a:t>R</a:t>
            </a:r>
            <a:endParaRPr b="0" lang="de-DE" sz="2400" spc="-1" strike="noStrike">
              <a:latin typeface="Arial"/>
            </a:endParaRPr>
          </a:p>
          <a:p>
            <a:pPr lvl="3" marL="864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latin typeface="Arial"/>
              </a:rPr>
              <a:t>ACO</a:t>
            </a:r>
            <a:r>
              <a:rPr b="0" lang="de-DE" sz="2400" spc="-1" strike="noStrike" baseline="-33000">
                <a:latin typeface="Arial"/>
              </a:rPr>
              <a:t>R</a:t>
            </a:r>
            <a:r>
              <a:rPr b="0" lang="de-DE" sz="2400" spc="-1" strike="noStrike">
                <a:latin typeface="Arial"/>
              </a:rPr>
              <a:t>-simple</a:t>
            </a:r>
            <a:endParaRPr b="0" lang="de-DE" sz="2400" spc="-1" strike="noStrike">
              <a:latin typeface="Arial"/>
            </a:endParaRPr>
          </a:p>
          <a:p>
            <a:pPr lvl="3" marL="864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latin typeface="Arial"/>
              </a:rPr>
              <a:t>ACO</a:t>
            </a:r>
            <a:r>
              <a:rPr b="0" lang="de-DE" sz="2400" spc="-1" strike="noStrike" baseline="-33000">
                <a:latin typeface="Arial"/>
              </a:rPr>
              <a:t>R</a:t>
            </a:r>
            <a:r>
              <a:rPr b="0" lang="de-DE" sz="2400" spc="-1" strike="noStrike">
                <a:latin typeface="Arial"/>
              </a:rPr>
              <a:t>-very-simple</a:t>
            </a:r>
            <a:endParaRPr b="0" lang="de-DE" sz="2400" spc="-1" strike="noStrike">
              <a:latin typeface="Arial"/>
            </a:endParaRPr>
          </a:p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Testfunktionen</a:t>
            </a:r>
            <a:endParaRPr b="0" lang="de-DE" sz="3200" spc="-1" strike="noStrike">
              <a:latin typeface="Arial"/>
            </a:endParaRPr>
          </a:p>
        </p:txBody>
      </p:sp>
    </p:spTree>
  </p:cSld>
  <p:timing>
    <p:tnLst>
      <p:par>
        <p:cTn id="5" dur="indefinite" restart="never" nodeType="tmRoot">
          <p:childTnLst>
            <p:seq>
              <p:cTn id="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Shape 1"/>
          <p:cNvSpPr txBox="1"/>
          <p:nvPr/>
        </p:nvSpPr>
        <p:spPr>
          <a:xfrm>
            <a:off x="487440" y="432360"/>
            <a:ext cx="9071640" cy="462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Einfluss der Parameter</a:t>
            </a:r>
            <a:endParaRPr b="0" lang="de-DE" sz="3200" spc="-1" strike="noStrike">
              <a:latin typeface="Arial"/>
            </a:endParaRPr>
          </a:p>
          <a:p>
            <a:pPr lvl="2" marL="648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latin typeface="Arial"/>
              </a:rPr>
              <a:t>Einfluss der Anzahl der Ameisen</a:t>
            </a:r>
            <a:endParaRPr b="0" lang="de-DE" sz="2400" spc="-1" strike="noStrike">
              <a:latin typeface="Arial"/>
            </a:endParaRPr>
          </a:p>
          <a:p>
            <a:pPr lvl="2" marL="648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latin typeface="Arial"/>
              </a:rPr>
              <a:t>Einfluss des Parameters q</a:t>
            </a:r>
            <a:endParaRPr b="0" lang="de-DE" sz="2400" spc="-1" strike="noStrike">
              <a:latin typeface="Arial"/>
            </a:endParaRPr>
          </a:p>
          <a:p>
            <a:pPr lvl="2" marL="648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latin typeface="Arial"/>
              </a:rPr>
              <a:t>Einfluss des Parameters k</a:t>
            </a:r>
            <a:endParaRPr b="0" lang="de-DE" sz="2400" spc="-1" strike="noStrike">
              <a:latin typeface="Arial"/>
            </a:endParaRPr>
          </a:p>
          <a:p>
            <a:pPr lvl="2" marL="648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latin typeface="Arial"/>
              </a:rPr>
              <a:t>Einfluss des Parameters ξ</a:t>
            </a:r>
            <a:endParaRPr b="0" lang="de-DE" sz="2400" spc="-1" strike="noStrike">
              <a:latin typeface="Arial"/>
            </a:endParaRPr>
          </a:p>
          <a:p>
            <a:pPr lvl="2" marL="648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latin typeface="Arial"/>
              </a:rPr>
              <a:t>Auswertung der Einflüsse der Parameter</a:t>
            </a:r>
            <a:endParaRPr b="0" lang="de-DE" sz="24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Vergleich zweier Intervallberechnungen für ACO</a:t>
            </a:r>
            <a:r>
              <a:rPr b="0" lang="de-DE" sz="3200" spc="-1" strike="noStrike" baseline="-33000">
                <a:latin typeface="Arial"/>
              </a:rPr>
              <a:t>R</a:t>
            </a:r>
            <a:r>
              <a:rPr b="0" lang="de-DE" sz="3200" spc="-1" strike="noStrike">
                <a:latin typeface="Arial"/>
              </a:rPr>
              <a:t>-simple und ACO</a:t>
            </a:r>
            <a:r>
              <a:rPr b="0" lang="de-DE" sz="3200" spc="-1" strike="noStrike" baseline="-33000">
                <a:latin typeface="Arial"/>
              </a:rPr>
              <a:t>R</a:t>
            </a:r>
            <a:r>
              <a:rPr b="0" lang="de-DE" sz="3200" spc="-1" strike="noStrike">
                <a:latin typeface="Arial"/>
              </a:rPr>
              <a:t>-very-simple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Vergleich von ACO</a:t>
            </a:r>
            <a:r>
              <a:rPr b="0" lang="de-DE" sz="3200" spc="-1" strike="noStrike" baseline="-33000">
                <a:latin typeface="Arial"/>
              </a:rPr>
              <a:t>R</a:t>
            </a:r>
            <a:r>
              <a:rPr b="0" lang="de-DE" sz="3200" spc="-1" strike="noStrike">
                <a:latin typeface="Arial"/>
              </a:rPr>
              <a:t>, ACO</a:t>
            </a:r>
            <a:r>
              <a:rPr b="0" lang="de-DE" sz="3200" spc="-1" strike="noStrike" baseline="-33000">
                <a:latin typeface="Arial"/>
              </a:rPr>
              <a:t>R</a:t>
            </a:r>
            <a:r>
              <a:rPr b="0" lang="de-DE" sz="3200" spc="-1" strike="noStrike">
                <a:latin typeface="Arial"/>
              </a:rPr>
              <a:t>-simple und ACO</a:t>
            </a:r>
            <a:r>
              <a:rPr b="0" lang="de-DE" sz="3200" spc="-1" strike="noStrike" baseline="-33000">
                <a:latin typeface="Arial"/>
              </a:rPr>
              <a:t>R</a:t>
            </a:r>
            <a:r>
              <a:rPr b="0" lang="de-DE" sz="3200" spc="-1" strike="noStrike">
                <a:latin typeface="Arial"/>
              </a:rPr>
              <a:t> -very-simple</a:t>
            </a:r>
            <a:endParaRPr b="0" lang="de-DE" sz="3200" spc="-1" strike="noStrike">
              <a:latin typeface="Arial"/>
            </a:endParaRPr>
          </a:p>
        </p:txBody>
      </p:sp>
    </p:spTree>
  </p:cSld>
  <p:timing>
    <p:tnLst>
      <p:par>
        <p:cTn id="7" dur="indefinite" restart="never" nodeType="tmRoot">
          <p:childTnLst>
            <p:seq>
              <p:cTn id="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Shape 1"/>
          <p:cNvSpPr txBox="1"/>
          <p:nvPr/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Konvergenzbetrachtung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Kurzzusammenfassung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Quellen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Fragen</a:t>
            </a:r>
            <a:endParaRPr b="0" lang="de-DE" sz="3200" spc="-1" strike="noStrike">
              <a:latin typeface="Arial"/>
            </a:endParaRPr>
          </a:p>
        </p:txBody>
      </p:sp>
    </p:spTree>
  </p:cSld>
  <p:timing>
    <p:tnLst>
      <p:par>
        <p:cTn id="9" dur="indefinite" restart="never" nodeType="tmRoot">
          <p:childTnLst>
            <p:seq>
              <p:cTn id="1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de-DE" sz="4400" spc="-1" strike="noStrike">
                <a:latin typeface="Arial"/>
              </a:rPr>
              <a:t>Einleitung</a:t>
            </a:r>
            <a:endParaRPr b="0" lang="de-DE" sz="4400" spc="-1" strike="noStrike">
              <a:latin typeface="Arial"/>
            </a:endParaRPr>
          </a:p>
        </p:txBody>
      </p:sp>
      <p:sp>
        <p:nvSpPr>
          <p:cNvPr id="48" name="TextShape 2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Informatik als Wissenschaft gliedert sich in viele Bereiche</a:t>
            </a:r>
            <a:endParaRPr b="0" lang="de-DE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für das heuristische Berechnen von Lösungen verwendete Algorithmen können weiter aufgeteilt werden in Klassen von Algorithmen</a:t>
            </a:r>
            <a:endParaRPr b="0" lang="de-DE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Ameisenalgorithmen begannen ihre Entwicklung durch Inspiration vom Verhalten von Ameisen bei der Nahrungssuche</a:t>
            </a:r>
            <a:endParaRPr b="0" lang="de-DE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  <a:ea typeface="AR PL SungtiL GB"/>
              </a:rPr>
              <a:t>erste Algorithmen konnten nur diskrete Probleme lösen; Verbesserung durch u.a. Continuous ACO (CACO) [1] und ACO</a:t>
            </a:r>
            <a:r>
              <a:rPr b="0" lang="de-DE" sz="3200" spc="-1" strike="noStrike" baseline="-33000">
                <a:latin typeface="Arial"/>
                <a:ea typeface="AR PL SungtiL GB"/>
              </a:rPr>
              <a:t>R</a:t>
            </a:r>
            <a:r>
              <a:rPr b="0" lang="de-DE" sz="3200" spc="-1" strike="noStrike">
                <a:latin typeface="Arial"/>
                <a:ea typeface="AR PL SungtiL GB"/>
              </a:rPr>
              <a:t> [6]</a:t>
            </a:r>
            <a:r>
              <a:rPr b="0" lang="de-DE" sz="3200" spc="-1" strike="noStrike">
                <a:latin typeface="Arial"/>
              </a:rPr>
              <a:t>, jedoch immer noch sehr komplex in Lösungsfindung</a:t>
            </a:r>
            <a:endParaRPr b="0" lang="de-DE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  <a:ea typeface="AR PL SungtiL GB"/>
              </a:rPr>
              <a:t>Verbesserung durch </a:t>
            </a:r>
            <a:r>
              <a:rPr b="0" lang="de-DE" sz="3200" spc="-1" strike="noStrike">
                <a:latin typeface="Arial"/>
              </a:rPr>
              <a:t>ACO</a:t>
            </a:r>
            <a:r>
              <a:rPr b="0" lang="de-DE" sz="3200" spc="-1" strike="noStrike" baseline="-33000">
                <a:latin typeface="Arial"/>
              </a:rPr>
              <a:t>R</a:t>
            </a:r>
            <a:r>
              <a:rPr b="0" lang="de-DE" sz="3200" spc="-1" strike="noStrike">
                <a:latin typeface="Arial"/>
              </a:rPr>
              <a:t>-very-simple</a:t>
            </a:r>
            <a:endParaRPr b="0" lang="de-DE" sz="3200" spc="-1" strike="noStrike">
              <a:latin typeface="Arial"/>
            </a:endParaRPr>
          </a:p>
        </p:txBody>
      </p:sp>
    </p:spTree>
  </p:cSld>
  <p:timing>
    <p:tnLst>
      <p:par>
        <p:cTn id="11" dur="indefinite" restart="never" nodeType="tmRoot">
          <p:childTnLst>
            <p:seq>
              <p:cTn id="1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Shape 1"/>
          <p:cNvSpPr txBox="1"/>
          <p:nvPr/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de-DE" sz="4400" spc="-1" strike="noStrike">
                <a:latin typeface="Arial"/>
              </a:rPr>
              <a:t>Beschreibung der Idee eines Ameisenalgorithmen</a:t>
            </a:r>
            <a:endParaRPr b="0" lang="de-DE" sz="4400" spc="-1" strike="noStrike">
              <a:latin typeface="Arial"/>
            </a:endParaRPr>
          </a:p>
        </p:txBody>
      </p:sp>
      <p:sp>
        <p:nvSpPr>
          <p:cNvPr id="50" name="TextShape 2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  <a:ea typeface="AR PL SungtiL GB"/>
              </a:rPr>
              <a:t>Ameisenalgorithmen durch die Art und Weise des Verhaltens von Ameisen inspiriert</a:t>
            </a:r>
            <a:r>
              <a:rPr b="0" lang="de-DE" sz="3200" spc="-1" strike="noStrike">
                <a:latin typeface="Arial"/>
              </a:rPr>
              <a:t>, z.B. Nahrungssuche</a:t>
            </a:r>
            <a:endParaRPr b="0" lang="de-DE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Ameisen hinterlassen beim Zurücklegen der Strecke zwischen zwei Punkten A und B eine Pheromonspur</a:t>
            </a:r>
            <a:endParaRPr b="0" lang="de-DE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Artgenossen orientieren sich an dieser, entscheiden sich jedoch nur mit einer gewissen Wahrscheinlichkeit für den Weg mit der Pheromonspur</a:t>
            </a:r>
            <a:endParaRPr b="0" lang="de-DE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Pheromonspur verdunstet nach einer gewissen Zeit</a:t>
            </a:r>
            <a:endParaRPr b="0" lang="de-DE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Suchagent (Ameise) entscheidet sich in Umsetzung für den Weg mit dem dem meisten Pheromon, jedoch nur mit einer gewissen Wahrscheinlichkeit und nach jedem Schritt/Zeiteinheit wird Pheromon verdunstet</a:t>
            </a:r>
            <a:endParaRPr b="0" lang="de-DE" sz="3200" spc="-1" strike="noStrike">
              <a:latin typeface="Arial"/>
            </a:endParaRPr>
          </a:p>
        </p:txBody>
      </p:sp>
    </p:spTree>
  </p:cSld>
  <p:timing>
    <p:tnLst>
      <p:par>
        <p:cTn id="13" dur="indefinite" restart="never" nodeType="tmRoot">
          <p:childTnLst>
            <p:seq>
              <p:cTn id="1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de-DE" sz="4400" spc="-1" strike="noStrike">
                <a:latin typeface="Arial"/>
              </a:rPr>
              <a:t>Mathematische Beschreibung</a:t>
            </a:r>
            <a:endParaRPr b="0" lang="de-DE" sz="4400" spc="-1" strike="noStrike">
              <a:latin typeface="Arial"/>
            </a:endParaRPr>
          </a:p>
        </p:txBody>
      </p:sp>
      <p:sp>
        <p:nvSpPr>
          <p:cNvPr id="52" name="TextShape 2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seien drei Punkte gegeben, zwischen denen Ameisen sich bewegen können – ein Startpunkt (S), ein Zielpunkt (Z) und ein Punkt (U) als Umweg</a:t>
            </a:r>
            <a:endParaRPr b="0" lang="de-DE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der direkte Weg bedarf eines Schritts/Zeiteinheit, das Laufen über den Umweg, zwei</a:t>
            </a:r>
            <a:endParaRPr b="0" lang="de-DE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  <a:ea typeface="AR PL SungtiL GB"/>
              </a:rPr>
              <a:t>Gleichungen für Wahrscheinlichkeit sich für den </a:t>
            </a:r>
            <a:r>
              <a:rPr b="0" lang="de-DE" sz="3200" spc="-1" strike="noStrike">
                <a:latin typeface="Arial"/>
              </a:rPr>
              <a:t>direkten Weg SZ oder den Umweg SU zu entscheiden sind wie folgt:</a:t>
            </a:r>
            <a:endParaRPr b="0" lang="de-DE" sz="3200" spc="-1" strike="noStrike"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53" name="Formula 3"/>
              <p:cNvSpPr txBox="1"/>
              <p:nvPr/>
            </p:nvSpPr>
            <p:spPr>
              <a:xfrm>
                <a:off x="2160000" y="4536000"/>
                <a:ext cx="1832040" cy="608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prob</m:t>
                        </m:r>
                      </m:e>
                      <m:sub>
                        <m:r>
                          <m:t xml:space="preserve">SZ</m:t>
                        </m:r>
                      </m:sub>
                    </m:sSub>
                    <m:r>
                      <m:t xml:space="preserve">=</m:t>
                    </m:r>
                    <m:f>
                      <m:num>
                        <m:sSubSup>
                          <m:e>
                            <m:r>
                              <m:t xml:space="preserve">ρ</m:t>
                            </m:r>
                          </m:e>
                          <m:sub>
                            <m:r>
                              <m:t xml:space="preserve">SZ</m:t>
                            </m:r>
                          </m:sub>
                          <m:sup>
                            <m:r>
                              <m:t xml:space="preserve">α</m:t>
                            </m:r>
                          </m:sup>
                        </m:sSubSup>
                      </m:num>
                      <m:den>
                        <m:sSubSup>
                          <m:e>
                            <m:r>
                              <m:t xml:space="preserve">ρ</m:t>
                            </m:r>
                          </m:e>
                          <m:sub>
                            <m:r>
                              <m:t xml:space="preserve">SZ</m:t>
                            </m:r>
                          </m:sub>
                          <m:sup>
                            <m:r>
                              <m:t xml:space="preserve">α</m:t>
                            </m:r>
                          </m:sup>
                        </m:sSubSup>
                        <m:r>
                          <m:t xml:space="preserve">+</m:t>
                        </m:r>
                        <m:sSubSup>
                          <m:e>
                            <m:r>
                              <m:t xml:space="preserve">ρ</m:t>
                            </m:r>
                          </m:e>
                          <m:sub>
                            <m:r>
                              <m:t xml:space="preserve">SU</m:t>
                            </m:r>
                          </m:sub>
                          <m:sup>
                            <m:r>
                              <m:t xml:space="preserve">α</m:t>
                            </m:r>
                          </m:sup>
                        </m:sSubSup>
                      </m:den>
                    </m:f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54" name="Formula 4"/>
              <p:cNvSpPr txBox="1"/>
              <p:nvPr/>
            </p:nvSpPr>
            <p:spPr>
              <a:xfrm>
                <a:off x="5976000" y="4525200"/>
                <a:ext cx="1800000" cy="5868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prob</m:t>
                        </m:r>
                      </m:e>
                      <m:sub>
                        <m:r>
                          <m:t xml:space="preserve">SU</m:t>
                        </m:r>
                      </m:sub>
                    </m:sSub>
                    <m:r>
                      <m:t xml:space="preserve">=</m:t>
                    </m:r>
                    <m:f>
                      <m:num>
                        <m:sSubSup>
                          <m:e>
                            <m:r>
                              <m:t xml:space="preserve">ρ</m:t>
                            </m:r>
                          </m:e>
                          <m:sub>
                            <m:r>
                              <m:t xml:space="preserve">SU</m:t>
                            </m:r>
                          </m:sub>
                          <m:sup>
                            <m:r>
                              <m:t xml:space="preserve">α</m:t>
                            </m:r>
                          </m:sup>
                        </m:sSubSup>
                      </m:num>
                      <m:den>
                        <m:sSubSup>
                          <m:e>
                            <m:r>
                              <m:t xml:space="preserve">ρ</m:t>
                            </m:r>
                          </m:e>
                          <m:sub>
                            <m:r>
                              <m:t xml:space="preserve">SZ</m:t>
                            </m:r>
                          </m:sub>
                          <m:sup>
                            <m:r>
                              <m:t xml:space="preserve">α</m:t>
                            </m:r>
                          </m:sup>
                        </m:sSubSup>
                        <m:r>
                          <m:t xml:space="preserve">+</m:t>
                        </m:r>
                        <m:sSubSup>
                          <m:e>
                            <m:r>
                              <m:t xml:space="preserve">ρ</m:t>
                            </m:r>
                          </m:e>
                          <m:sub>
                            <m:r>
                              <m:t xml:space="preserve">SU</m:t>
                            </m:r>
                          </m:sub>
                          <m:sup>
                            <m:r>
                              <m:t xml:space="preserve">α</m:t>
                            </m:r>
                          </m:sup>
                        </m:sSubSup>
                      </m:den>
                    </m:f>
                  </m:oMath>
                </a14:m>
              </a:p>
            </p:txBody>
          </p:sp>
        </mc:Choice>
        <mc:Fallback/>
      </mc:AlternateContent>
    </p:spTree>
  </p:cSld>
  <p:timing>
    <p:tnLst>
      <p:par>
        <p:cTn id="15" dur="indefinite" restart="never" nodeType="tmRoot">
          <p:childTnLst>
            <p:seq>
              <p:cTn id="1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Shape 1"/>
          <p:cNvSpPr txBox="1"/>
          <p:nvPr/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der direkte Weg bedarf eines Schritts/Zeiteinheit, das Laufen über den Umweg, zwei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bei jedem Schritt wird Pheromon gemäß folgender Gleichung verdunstet, wobei v die Verdunstungskonstante ist: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3200" spc="-1" strike="noStrike"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56" name="Formula 2"/>
              <p:cNvSpPr txBox="1"/>
              <p:nvPr/>
            </p:nvSpPr>
            <p:spPr>
              <a:xfrm>
                <a:off x="720000" y="3528000"/>
                <a:ext cx="5850000" cy="3960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ρ</m:t>
                        </m:r>
                      </m:e>
                      <m:sub>
                        <m:r>
                          <m:t xml:space="preserve">XY</m:t>
                        </m:r>
                      </m:sub>
                    </m:sSub>
                    <m:r>
                      <m:t xml:space="preserve">=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1</m:t>
                        </m:r>
                        <m:r>
                          <m:t xml:space="preserve">−</m:t>
                        </m:r>
                        <m:r>
                          <m:t xml:space="preserve">v</m:t>
                        </m:r>
                      </m:e>
                    </m:d>
                    <m:r>
                      <m:t xml:space="preserve">∗</m:t>
                    </m:r>
                    <m:sSub>
                      <m:e>
                        <m:r>
                          <m:t xml:space="preserve">ρ</m:t>
                        </m:r>
                      </m:e>
                      <m:sub>
                        <m:r>
                          <m:t xml:space="preserve">XY</m:t>
                        </m:r>
                      </m:sub>
                    </m:sSub>
                    <m:r>
                      <m:t xml:space="preserve">,</m:t>
                    </m:r>
                    <m:r>
                      <m:t xml:space="preserve">v</m:t>
                    </m:r>
                    <m:r>
                      <m:t xml:space="preserve">∈</m:t>
                    </m:r>
                    <m:d>
                      <m:dPr>
                        <m:begChr m:val="["/>
                        <m:endChr m:val=")"/>
                      </m:dPr>
                      <m:e>
                        <m:r>
                          <m:t xml:space="preserve">0,1</m:t>
                        </m:r>
                      </m:e>
                    </m:d>
                    <m:r>
                      <m:t xml:space="preserve">,</m:t>
                    </m:r>
                    <m:r>
                      <m:t xml:space="preserve">XY</m:t>
                    </m:r>
                    <m:r>
                      <m:t xml:space="preserve">∈</m:t>
                    </m:r>
                    <m:d>
                      <m:dPr>
                        <m:begChr m:val="{"/>
                        <m:endChr m:val="}"/>
                      </m:dPr>
                      <m:e>
                        <m:r>
                          <m:t xml:space="preserve">SU</m:t>
                        </m:r>
                        <m:r>
                          <m:t xml:space="preserve">,</m:t>
                        </m:r>
                        <m:r>
                          <m:t xml:space="preserve">U</m:t>
                        </m:r>
                        <m:r>
                          <m:t xml:space="preserve">Z</m:t>
                        </m:r>
                        <m:r>
                          <m:t xml:space="preserve">,</m:t>
                        </m:r>
                        <m:r>
                          <m:t xml:space="preserve">SZ</m:t>
                        </m:r>
                      </m:e>
                    </m:d>
                  </m:oMath>
                </a14:m>
              </a:p>
            </p:txBody>
          </p:sp>
        </mc:Choice>
        <mc:Fallback/>
      </mc:AlternateContent>
    </p:spTree>
  </p:cSld>
  <p:timing>
    <p:tnLst>
      <p:par>
        <p:cTn id="17" dur="indefinite" restart="never" nodeType="tmRoot">
          <p:childTnLst>
            <p:seq>
              <p:cTn id="1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Shape 1"/>
          <p:cNvSpPr txBox="1"/>
          <p:nvPr/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Beobachtung</a:t>
            </a:r>
            <a:endParaRPr b="0" lang="de-DE" sz="3200" spc="-1" strike="noStrike">
              <a:latin typeface="Arial"/>
            </a:endParaRPr>
          </a:p>
          <a:p>
            <a:pPr lvl="2" marL="648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latin typeface="Arial"/>
                <a:ea typeface="AR PL SungtiL GB"/>
              </a:rPr>
              <a:t>es ist nur eine einzige Belegung der Punkte mögliche (begangen oder nicht begangen) und die Belegung ist auf die Punkte beschränkt</a:t>
            </a:r>
            <a:endParaRPr b="0" lang="de-DE" sz="2400" spc="-1" strike="noStrike">
              <a:latin typeface="Arial"/>
            </a:endParaRPr>
          </a:p>
          <a:p>
            <a:pPr lvl="2" marL="648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latin typeface="Arial"/>
                <a:ea typeface="AR PL SungtiL GB"/>
              </a:rPr>
              <a:t>es wird eine Anordnung der Punkte konstruiert {</a:t>
            </a:r>
            <a:r>
              <a:rPr b="0" lang="de-DE" sz="2400" spc="-1" strike="noStrike">
                <a:latin typeface="Arial"/>
              </a:rPr>
              <a:t>SU, UZ, SZ}, um die kürzeste Verbindung zwischen Punkten zu finden</a:t>
            </a:r>
            <a:endParaRPr b="0" lang="de-DE" sz="24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Schlussfolgerung</a:t>
            </a:r>
            <a:endParaRPr b="0" lang="de-DE" sz="3200" spc="-1" strike="noStrike">
              <a:latin typeface="Arial"/>
            </a:endParaRPr>
          </a:p>
          <a:p>
            <a:pPr lvl="2" marL="648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latin typeface="Arial"/>
              </a:rPr>
              <a:t>das Problem ist diskret</a:t>
            </a:r>
            <a:endParaRPr b="0" lang="de-DE" sz="2400" spc="-1" strike="noStrike">
              <a:latin typeface="Arial"/>
            </a:endParaRPr>
          </a:p>
          <a:p>
            <a:pPr lvl="2" marL="648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latin typeface="Arial"/>
              </a:rPr>
              <a:t>es wird eine Lösung eines diskreten Problems kontruiert</a:t>
            </a:r>
            <a:endParaRPr b="0" lang="de-DE" sz="2400" spc="-1" strike="noStrike">
              <a:latin typeface="Arial"/>
            </a:endParaRPr>
          </a:p>
        </p:txBody>
      </p:sp>
    </p:spTree>
  </p:cSld>
  <p:timing>
    <p:tnLst>
      <p:par>
        <p:cTn id="19" dur="indefinite" restart="never" nodeType="tmRoot">
          <p:childTnLst>
            <p:seq>
              <p:cTn id="2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Shape 1"/>
          <p:cNvSpPr txBox="1"/>
          <p:nvPr/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de-DE" sz="4400" spc="-1" strike="noStrike">
                <a:latin typeface="Arial"/>
              </a:rPr>
              <a:t>Verbesserungen der ACO Metaheuristik zur PB-ACO</a:t>
            </a:r>
            <a:endParaRPr b="0" lang="de-DE" sz="4400" spc="-1" strike="noStrike">
              <a:latin typeface="Arial"/>
            </a:endParaRPr>
          </a:p>
        </p:txBody>
      </p:sp>
      <p:sp>
        <p:nvSpPr>
          <p:cNvPr id="59" name="TextShape 2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bei Iterationen der ACO Metaheuristik viel Zeit (O(n 2 )) für das Update der Pheromoninformation aufgewendet</a:t>
            </a:r>
            <a:endParaRPr b="0" lang="de-DE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Von Gutsch und Middendorf [2] ein effizienteres Verfahren vorgestellt, bei dem das Pheromonupdate nur O(n) benötigt</a:t>
            </a:r>
            <a:endParaRPr b="0" lang="de-DE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Pheromon wird in einer diskreten, quadratischen (n×n)-Matrix P, n ∈ N, gespeichert</a:t>
            </a:r>
            <a:endParaRPr b="0" lang="de-DE" sz="3200" spc="-1" strike="noStrike">
              <a:latin typeface="Arial"/>
            </a:endParaRPr>
          </a:p>
        </p:txBody>
      </p:sp>
    </p:spTree>
  </p:cSld>
  <p:timing>
    <p:tnLst>
      <p:par>
        <p:cTn id="21" dur="indefinite" restart="never" nodeType="tmRoot">
          <p:childTnLst>
            <p:seq>
              <p:cTn id="2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Shape 1"/>
          <p:cNvSpPr txBox="1"/>
          <p:nvPr/>
        </p:nvSpPr>
        <p:spPr>
          <a:xfrm>
            <a:off x="504000" y="50760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latin typeface="Arial"/>
              </a:rPr>
              <a:t>die Einträge der Pheromonmatrix setzen sich wie folgt zusammen:</a:t>
            </a:r>
            <a:endParaRPr b="0" lang="de-DE" sz="24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latin typeface="Arial"/>
                <a:ea typeface="Arial"/>
              </a:rPr>
              <a:t>ρ</a:t>
            </a:r>
            <a:r>
              <a:rPr b="0" lang="de-DE" sz="2400" spc="-1" strike="noStrike" baseline="-33000">
                <a:latin typeface="Arial"/>
                <a:ea typeface="Arial"/>
              </a:rPr>
              <a:t>0</a:t>
            </a:r>
            <a:r>
              <a:rPr b="0" lang="de-DE" sz="2400" spc="-1" strike="noStrike">
                <a:latin typeface="Arial"/>
                <a:ea typeface="Arial"/>
              </a:rPr>
              <a:t> (Initialpheromonkonzentration), </a:t>
            </a:r>
            <a:r>
              <a:rPr b="0" lang="de-DE" sz="2400" spc="-1" strike="noStrike">
                <a:latin typeface="Arial"/>
                <a:ea typeface="Arial"/>
              </a:rPr>
              <a:t>δ</a:t>
            </a:r>
            <a:r>
              <a:rPr b="0" lang="de-DE" sz="2400" spc="-1" strike="noStrike">
                <a:latin typeface="Arial"/>
                <a:ea typeface="Arial"/>
              </a:rPr>
              <a:t> &gt; 0, P ∈ R</a:t>
            </a:r>
            <a:r>
              <a:rPr b="0" lang="de-DE" sz="2400" spc="-1" strike="noStrike" baseline="33000">
                <a:latin typeface="Arial"/>
                <a:ea typeface="Arial"/>
              </a:rPr>
              <a:t>nxn</a:t>
            </a:r>
            <a:r>
              <a:rPr b="0" lang="de-DE" sz="2400" spc="-1" strike="noStrike">
                <a:latin typeface="Arial"/>
                <a:ea typeface="Arial"/>
              </a:rPr>
              <a:t>, </a:t>
            </a:r>
            <a:r>
              <a:rPr b="0" lang="de-DE" sz="2400" spc="-1" strike="noStrike">
                <a:latin typeface="Arial"/>
                <a:ea typeface="Arial"/>
              </a:rPr>
              <a:t>n ∈ N</a:t>
            </a:r>
            <a:endParaRPr b="0" lang="de-DE" sz="24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latin typeface="Arial"/>
                <a:ea typeface="Arial"/>
              </a:rPr>
              <a:t>ρ</a:t>
            </a:r>
            <a:r>
              <a:rPr b="0" lang="de-DE" sz="2400" spc="-1" strike="noStrike" baseline="-33000">
                <a:latin typeface="Arial"/>
                <a:ea typeface="Arial"/>
              </a:rPr>
              <a:t>ij</a:t>
            </a:r>
            <a:r>
              <a:rPr b="0" lang="de-DE" sz="2400" spc="-1" strike="noStrike">
                <a:latin typeface="Arial"/>
                <a:ea typeface="Arial"/>
              </a:rPr>
              <a:t> = ρ</a:t>
            </a:r>
            <a:r>
              <a:rPr b="0" lang="de-DE" sz="2400" spc="-1" strike="noStrike" baseline="-33000">
                <a:latin typeface="Arial"/>
                <a:ea typeface="Arial"/>
              </a:rPr>
              <a:t>0</a:t>
            </a:r>
            <a:r>
              <a:rPr b="0" lang="de-DE" sz="2400" spc="-1" strike="noStrike">
                <a:latin typeface="Arial"/>
                <a:ea typeface="Arial"/>
              </a:rPr>
              <a:t> ∀ i,j ∈ {1, …, n} </a:t>
            </a:r>
            <a:endParaRPr b="0" lang="de-DE" sz="24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latin typeface="Arial"/>
                <a:ea typeface="Arial"/>
              </a:rPr>
              <a:t>nach Konstruktion mehrerer Lösungen durch </a:t>
            </a:r>
            <a:r>
              <a:rPr b="0" lang="de-DE" sz="2400" spc="-1" strike="noStrike">
                <a:latin typeface="Arial"/>
                <a:ea typeface="Arial"/>
              </a:rPr>
              <a:t>die Ameisen wird die beste in die Pheromonmatrix folgendermaßen eingefügt</a:t>
            </a:r>
            <a:endParaRPr b="0" lang="de-DE" sz="24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latin typeface="Arial"/>
                <a:ea typeface="Arial"/>
              </a:rPr>
              <a:t>ρ</a:t>
            </a:r>
            <a:r>
              <a:rPr b="0" lang="de-DE" sz="2400" spc="-1" strike="noStrike" baseline="-33000">
                <a:latin typeface="Arial"/>
                <a:ea typeface="Arial"/>
              </a:rPr>
              <a:t>ij</a:t>
            </a:r>
            <a:r>
              <a:rPr b="0" lang="de-DE" sz="2400" spc="-1" strike="noStrike">
                <a:latin typeface="Arial"/>
                <a:ea typeface="Arial"/>
              </a:rPr>
              <a:t> = ρ</a:t>
            </a:r>
            <a:r>
              <a:rPr b="0" lang="de-DE" sz="2400" spc="-1" strike="noStrike" baseline="-33000">
                <a:latin typeface="Arial"/>
                <a:ea typeface="Arial"/>
              </a:rPr>
              <a:t>ij</a:t>
            </a:r>
            <a:r>
              <a:rPr b="0" lang="de-DE" sz="2400" spc="-1" strike="noStrike">
                <a:latin typeface="Arial"/>
                <a:ea typeface="Arial"/>
              </a:rPr>
              <a:t> + δ, wenn die (i, j)-Kante eine Kante in der Lösung ist</a:t>
            </a:r>
            <a:endParaRPr b="0" lang="de-DE" sz="24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latin typeface="Arial"/>
                <a:ea typeface="Arial"/>
              </a:rPr>
              <a:t>Dadurch gilt für alle Einträge der Pheromonmatrix</a:t>
            </a:r>
            <a:endParaRPr b="0" lang="de-DE" sz="24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latin typeface="Arial"/>
                <a:ea typeface="Arial"/>
              </a:rPr>
              <a:t>ρ</a:t>
            </a:r>
            <a:r>
              <a:rPr b="0" lang="de-DE" sz="2400" spc="-1" strike="noStrike" baseline="-33000">
                <a:latin typeface="Arial"/>
                <a:ea typeface="Arial"/>
              </a:rPr>
              <a:t>0 </a:t>
            </a:r>
            <a:r>
              <a:rPr b="0" lang="de-DE" sz="2400" spc="-1" strike="noStrike">
                <a:latin typeface="Arial"/>
                <a:ea typeface="Arial"/>
              </a:rPr>
              <a:t>≤ ρ</a:t>
            </a:r>
            <a:r>
              <a:rPr b="0" lang="de-DE" sz="2400" spc="-1" strike="noStrike" baseline="-33000">
                <a:latin typeface="Arial"/>
                <a:ea typeface="Arial"/>
              </a:rPr>
              <a:t>ij</a:t>
            </a:r>
            <a:r>
              <a:rPr b="0" lang="de-DE" sz="2400" spc="-1" strike="noStrike">
                <a:latin typeface="Arial"/>
                <a:ea typeface="Arial"/>
              </a:rPr>
              <a:t> ≤ ρ</a:t>
            </a:r>
            <a:r>
              <a:rPr b="0" lang="de-DE" sz="2400" spc="-1" strike="noStrike" baseline="-33000">
                <a:latin typeface="Arial"/>
                <a:ea typeface="Arial"/>
              </a:rPr>
              <a:t>0</a:t>
            </a:r>
            <a:r>
              <a:rPr b="0" lang="de-DE" sz="2400" spc="-1" strike="noStrike">
                <a:latin typeface="Arial"/>
                <a:ea typeface="Arial"/>
              </a:rPr>
              <a:t>+n * δ</a:t>
            </a:r>
            <a:endParaRPr b="0" lang="de-DE" sz="24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latin typeface="Arial"/>
                <a:ea typeface="Arial"/>
              </a:rPr>
              <a:t>jeder Matrix- bzw. Pheromoneintrag kann genau n + 1 Werte annehmen</a:t>
            </a:r>
            <a:endParaRPr b="0" lang="de-DE" sz="24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latin typeface="Arial"/>
                <a:ea typeface="Arial"/>
              </a:rPr>
              <a:t>die Matrix ist diskret</a:t>
            </a:r>
            <a:endParaRPr b="0" lang="de-DE" sz="2400" spc="-1" strike="noStrike">
              <a:latin typeface="Arial"/>
            </a:endParaRPr>
          </a:p>
        </p:txBody>
      </p:sp>
    </p:spTree>
  </p:cSld>
  <p:timing>
    <p:tnLst>
      <p:par>
        <p:cTn id="23" dur="indefinite" restart="never" nodeType="tmRoot">
          <p:childTnLst>
            <p:seq>
              <p:cTn id="2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Shape 1"/>
          <p:cNvSpPr txBox="1"/>
          <p:nvPr/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in jedem Durchlauf, abgesehen von den ersten n, wird eine Lösung in die diskrete Pheromonmatrix aufgenommen und eine aus selbiger wieder entfernt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Matrix P, wenn als solches interpretiert, ist ein Lösungsarchiv, mit dessen Hilfe eine neue Lösung erzeugt wird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Verbesserung ist wesentlicher Schritt in Richtung der Algorithmen, welche hier besprochen werden</a:t>
            </a:r>
            <a:endParaRPr b="0" lang="de-DE" sz="3200" spc="-1" strike="noStrike">
              <a:latin typeface="Arial"/>
            </a:endParaRPr>
          </a:p>
        </p:txBody>
      </p:sp>
    </p:spTree>
  </p:cSld>
  <p:timing>
    <p:tnLst>
      <p:par>
        <p:cTn id="25" dur="indefinite" restart="never" nodeType="tmRoot">
          <p:childTnLst>
            <p:seq>
              <p:cTn id="2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Shape 1"/>
          <p:cNvSpPr txBox="1"/>
          <p:nvPr/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de-DE" sz="4400" spc="-1" strike="noStrike">
                <a:latin typeface="Arial"/>
              </a:rPr>
              <a:t>Ameisenalgorithmen mit stetigem Lösungsarchiv</a:t>
            </a:r>
            <a:endParaRPr b="0" lang="de-DE" sz="4400" spc="-1" strike="noStrike">
              <a:latin typeface="Arial"/>
            </a:endParaRPr>
          </a:p>
        </p:txBody>
      </p:sp>
      <p:sp>
        <p:nvSpPr>
          <p:cNvPr id="63" name="TextShape 2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  <a:ea typeface="AR PL SungtiL GB"/>
              </a:rPr>
              <a:t>wie im vorherigen Abschnitt beschrieben, kann man Pheromoninformation in einer diskreten Matrix speichern, einem diskreten Lösungsarchiv</a:t>
            </a:r>
            <a:r>
              <a:rPr b="0" lang="de-DE" sz="3200" spc="-1" strike="noStrike">
                <a:latin typeface="Arial"/>
              </a:rPr>
              <a:t>, statt diese von Iterationsschritt zu Iterationsschritt mitzuführen</a:t>
            </a:r>
            <a:endParaRPr b="0" lang="de-DE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damit lassen sich nur diskrete Probleme lösen</a:t>
            </a:r>
            <a:endParaRPr b="0" lang="de-DE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Verbesserung: stetiges Archiv mit stetigen Eniträgen</a:t>
            </a:r>
            <a:endParaRPr b="0" lang="de-DE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Ameisenalgorithmen mit stetigem Lösungsarchiv speichern Lösungen in stetigen Einträgen</a:t>
            </a:r>
            <a:endParaRPr b="0" lang="de-DE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einfachste Vorschriften zum Speichern von Lösungen sind „first in last out“ und „best in worst out“</a:t>
            </a:r>
            <a:endParaRPr b="0" lang="de-DE" sz="3200" spc="-1" strike="noStrike">
              <a:latin typeface="Arial"/>
            </a:endParaRPr>
          </a:p>
        </p:txBody>
      </p:sp>
    </p:spTree>
  </p:cSld>
  <p:timing>
    <p:tnLst>
      <p:par>
        <p:cTn id="27" dur="indefinite" restart="never" nodeType="tmRoot">
          <p:childTnLst>
            <p:seq>
              <p:cTn id="2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Shape 1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Ameisenalgorithmen in stetigen Variablen suchen Belegungen für Variablen in R oder in einem Intervall von R, der Suchraum ist also z.B. R</a:t>
            </a:r>
            <a:r>
              <a:rPr b="0" lang="de-DE" sz="3200" spc="-1" strike="noStrike" baseline="33000">
                <a:latin typeface="Arial"/>
              </a:rPr>
              <a:t>n</a:t>
            </a:r>
            <a:r>
              <a:rPr b="0" lang="de-DE" sz="3200" spc="-1" strike="noStrike">
                <a:latin typeface="Arial"/>
              </a:rPr>
              <a:t>, n ∈ N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es wird ein stetiges Lösungsarchiv zu verwendet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aus den Lösungen im Archiv werden neue Lösung konstruiert</a:t>
            </a:r>
            <a:endParaRPr b="0" lang="de-DE" sz="3200" spc="-1" strike="noStrike">
              <a:latin typeface="Arial"/>
            </a:endParaRPr>
          </a:p>
        </p:txBody>
      </p:sp>
      <p:sp>
        <p:nvSpPr>
          <p:cNvPr id="65" name="TextShape 2"/>
          <p:cNvSpPr txBox="1"/>
          <p:nvPr/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de-DE" sz="4400" spc="-1" strike="noStrike">
                <a:latin typeface="Arial"/>
              </a:rPr>
              <a:t>Ameisenalgorithmen in stetigen Variablen</a:t>
            </a:r>
            <a:endParaRPr b="0" lang="de-DE" sz="4400" spc="-1" strike="noStrike">
              <a:latin typeface="Arial"/>
            </a:endParaRPr>
          </a:p>
        </p:txBody>
      </p:sp>
    </p:spTree>
  </p:cSld>
  <p:timing>
    <p:tnLst>
      <p:par>
        <p:cTn id="29" dur="indefinite" restart="never" nodeType="tmRoot">
          <p:childTnLst>
            <p:seq>
              <p:cTn id="3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de-DE" sz="4400" spc="-1" strike="noStrike">
                <a:latin typeface="Arial"/>
              </a:rPr>
              <a:t>Varianten der Lösungsfindung</a:t>
            </a:r>
            <a:endParaRPr b="0" lang="de-DE" sz="4400" spc="-1" strike="noStrike">
              <a:latin typeface="Arial"/>
            </a:endParaRPr>
          </a:p>
        </p:txBody>
      </p:sp>
      <p:sp>
        <p:nvSpPr>
          <p:cNvPr id="67" name="TextShape 2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  <a:ea typeface="AR PL SungtiL GB"/>
              </a:rPr>
              <a:t>Variante der Lösungsfindung bestimmt die Art der </a:t>
            </a:r>
            <a:r>
              <a:rPr b="0" lang="de-DE" sz="3200" spc="-1" strike="noStrike">
                <a:latin typeface="Arial"/>
              </a:rPr>
              <a:t>Lösungsfindung</a:t>
            </a:r>
            <a:endParaRPr b="0" lang="de-DE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es können mehrere Algorithmen zu einer Variante existieren, es werden zwei vorgestellt</a:t>
            </a:r>
            <a:endParaRPr b="0" lang="de-DE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wir vergleichen als Varianten Intervallauswertung und Funktionsaufbau über einem Intervall</a:t>
            </a:r>
            <a:endParaRPr b="0" lang="de-DE" sz="3200" spc="-1" strike="noStrike">
              <a:latin typeface="Arial"/>
            </a:endParaRPr>
          </a:p>
        </p:txBody>
      </p:sp>
    </p:spTree>
  </p:cSld>
  <p:timing>
    <p:tnLst>
      <p:par>
        <p:cTn id="31" dur="indefinite" restart="never" nodeType="tmRoot">
          <p:childTnLst>
            <p:seq>
              <p:cTn id="3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de-DE" sz="4400" spc="-1" strike="noStrike">
                <a:latin typeface="Arial"/>
              </a:rPr>
              <a:t>ACO</a:t>
            </a:r>
            <a:r>
              <a:rPr b="0" lang="de-DE" sz="4400" spc="-1" strike="noStrike" baseline="-33000">
                <a:latin typeface="Arial"/>
              </a:rPr>
              <a:t>R</a:t>
            </a:r>
            <a:endParaRPr b="0" lang="de-DE" sz="4400" spc="-1" strike="noStrike">
              <a:latin typeface="Arial"/>
            </a:endParaRPr>
          </a:p>
        </p:txBody>
      </p:sp>
      <p:sp>
        <p:nvSpPr>
          <p:cNvPr id="69" name="TextShape 2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latin typeface="Arial"/>
              </a:rPr>
              <a:t>stetiges Lösungsarchiv mit k Lösungen</a:t>
            </a:r>
            <a:endParaRPr b="0" lang="de-DE" sz="28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latin typeface="Arial"/>
              </a:rPr>
              <a:t>Jede Ameise führt n Konstruktionsschritte durch, wobei n die Anzahl der Dimensionen des Problems ist</a:t>
            </a:r>
            <a:endParaRPr b="0" lang="de-DE" sz="28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latin typeface="Arial"/>
              </a:rPr>
              <a:t>im i-ten Konstruktionsschritt wird die folgende Funktion ausgewertet:</a:t>
            </a:r>
            <a:endParaRPr b="0" lang="de-DE" sz="28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70" name="Formula 3"/>
              <p:cNvSpPr txBox="1"/>
              <p:nvPr/>
            </p:nvSpPr>
            <p:spPr>
              <a:xfrm>
                <a:off x="936000" y="3924000"/>
                <a:ext cx="3758400" cy="7560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p>
                      <m:e>
                        <m:r>
                          <m:t xml:space="preserve">G</m:t>
                        </m:r>
                      </m:e>
                      <m:sup>
                        <m:r>
                          <m:t xml:space="preserve">i</m:t>
                        </m:r>
                      </m:sup>
                    </m:sSup>
                    <m:r>
                      <m:t xml:space="preserve">=</m:t>
                    </m:r>
                    <m:nary>
                      <m:naryPr>
                        <m:chr m:val="∑"/>
                      </m:naryPr>
                      <m:sub>
                        <m:r>
                          <m:t xml:space="preserve">l</m:t>
                        </m:r>
                        <m:r>
                          <m:t xml:space="preserve">=</m:t>
                        </m:r>
                        <m:r>
                          <m:t xml:space="preserve">1</m:t>
                        </m:r>
                      </m:sub>
                      <m:sup>
                        <m:r>
                          <m:t xml:space="preserve">k</m:t>
                        </m:r>
                      </m:sup>
                      <m:e>
                        <m:sSub>
                          <m:e>
                            <m:r>
                              <m:t xml:space="preserve">ω</m:t>
                            </m:r>
                          </m:e>
                          <m:sub>
                            <m:r>
                              <m:t xml:space="preserve">l</m:t>
                            </m:r>
                          </m:sub>
                        </m:sSub>
                      </m:e>
                    </m:nary>
                    <m:sSubSup>
                      <m:e>
                        <m:r>
                          <m:t xml:space="preserve">g</m:t>
                        </m:r>
                      </m:e>
                      <m:sub>
                        <m:r>
                          <m:t xml:space="preserve">l</m:t>
                        </m:r>
                      </m:sub>
                      <m:sup>
                        <m:r>
                          <m:t xml:space="preserve">i</m:t>
                        </m:r>
                      </m:sup>
                    </m:sSubSup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x</m:t>
                        </m:r>
                      </m:e>
                    </m:d>
                    <m:r>
                      <m:t xml:space="preserve">=</m:t>
                    </m:r>
                    <m:nary>
                      <m:naryPr>
                        <m:chr m:val="∑"/>
                      </m:naryPr>
                      <m:sub>
                        <m:r>
                          <m:t xml:space="preserve">l</m:t>
                        </m:r>
                        <m:r>
                          <m:t xml:space="preserve">=</m:t>
                        </m:r>
                        <m:r>
                          <m:t xml:space="preserve">1</m:t>
                        </m:r>
                      </m:sub>
                      <m:sup>
                        <m:r>
                          <m:t xml:space="preserve">k</m:t>
                        </m:r>
                      </m:sup>
                      <m:e>
                        <m:sSub>
                          <m:e>
                            <m:r>
                              <m:t xml:space="preserve">ω</m:t>
                            </m:r>
                          </m:e>
                          <m:sub>
                            <m:r>
                              <m:t xml:space="preserve">l</m:t>
                            </m:r>
                          </m:sub>
                        </m:sSub>
                      </m:e>
                    </m:nary>
                    <m:f>
                      <m:num>
                        <m:r>
                          <m:t xml:space="preserve">1</m:t>
                        </m:r>
                      </m:num>
                      <m:den>
                        <m:sSubSup>
                          <m:e>
                            <m:r>
                              <m:t xml:space="preserve">σ</m:t>
                            </m:r>
                          </m:e>
                          <m:sub>
                            <m:r>
                              <m:t xml:space="preserve">l</m:t>
                            </m:r>
                          </m:sub>
                          <m:sup>
                            <m:r>
                              <m:t xml:space="preserve">i</m:t>
                            </m:r>
                          </m:sup>
                        </m:sSubSup>
                        <m:rad>
                          <m:radPr>
                            <m:degHide m:val="1"/>
                          </m:radPr>
                          <m:deg/>
                          <m:e>
                            <m:r>
                              <m:t xml:space="preserve">2</m:t>
                            </m:r>
                            <m:r>
                              <m:t xml:space="preserve">π</m:t>
                            </m:r>
                          </m:e>
                        </m:rad>
                      </m:den>
                    </m:f>
                    <m:sSup>
                      <m:e>
                        <m:r>
                          <m:t xml:space="preserve">e</m:t>
                        </m:r>
                      </m:e>
                      <m:sup>
                        <m:r>
                          <m:t xml:space="preserve">−</m:t>
                        </m:r>
                        <m:f>
                          <m:num>
                            <m:sSup>
                              <m:e>
                                <m:d>
                                  <m:dPr>
                                    <m:begChr m:val="("/>
                                    <m:endChr m:val=")"/>
                                  </m:dPr>
                                  <m:e>
                                    <m:r>
                                      <m:t xml:space="preserve">x</m:t>
                                    </m:r>
                                    <m:r>
                                      <m:t xml:space="preserve">−</m:t>
                                    </m:r>
                                    <m:sSubSup>
                                      <m:e>
                                        <m:r>
                                          <m:t xml:space="preserve">μ</m:t>
                                        </m:r>
                                      </m:e>
                                      <m:sub>
                                        <m:r>
                                          <m:t xml:space="preserve">l</m:t>
                                        </m:r>
                                      </m:sub>
                                      <m:sup>
                                        <m:r>
                                          <m:t xml:space="preserve">i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m:t xml:space="preserve">2</m:t>
                                </m:r>
                              </m:sup>
                            </m:sSup>
                          </m:num>
                          <m:den>
                            <m:r>
                              <m:t xml:space="preserve">2</m:t>
                            </m:r>
                            <m:sSup>
                              <m:e>
                                <m:sSubSup>
                                  <m:e>
                                    <m:r>
                                      <m:t xml:space="preserve">σ</m:t>
                                    </m:r>
                                  </m:e>
                                  <m:sub>
                                    <m:r>
                                      <m:t xml:space="preserve">l</m:t>
                                    </m:r>
                                  </m:sub>
                                  <m:sup>
                                    <m:r>
                                      <m:t xml:space="preserve">i</m:t>
                                    </m:r>
                                  </m:sup>
                                </m:sSubSup>
                              </m:e>
                              <m:sup>
                                <m:r>
                                  <m:t xml:space="preserve">2</m:t>
                                </m:r>
                              </m:sup>
                            </m:sSup>
                          </m:den>
                        </m:f>
                      </m:sup>
                    </m:sSup>
                  </m:oMath>
                </a14:m>
              </a:p>
            </p:txBody>
          </p:sp>
        </mc:Choice>
        <mc:Fallback/>
      </mc:AlternateContent>
    </p:spTree>
  </p:cSld>
  <p:timing>
    <p:tnLst>
      <p:par>
        <p:cTn id="33" dur="indefinite" restart="never" nodeType="tmRoot">
          <p:childTnLst>
            <p:seq>
              <p:cTn id="3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Shape 1"/>
          <p:cNvSpPr txBox="1"/>
          <p:nvPr/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für Vektoren ω, μ und σ gilt, dass sie so viele Komponenten haben, wie es Lösungen im Lösungsarchiv gibt, also |ω| = |μ| = |σ| = k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μ = {μ</a:t>
            </a:r>
            <a:r>
              <a:rPr b="0" lang="de-DE" sz="3200" spc="-1" strike="noStrike" baseline="33000">
                <a:latin typeface="Arial"/>
              </a:rPr>
              <a:t>i</a:t>
            </a:r>
            <a:r>
              <a:rPr b="0" lang="de-DE" sz="3200" spc="-1" strike="noStrike" baseline="-33000">
                <a:latin typeface="Arial"/>
              </a:rPr>
              <a:t>1</a:t>
            </a:r>
            <a:r>
              <a:rPr b="0" lang="de-DE" sz="3200" spc="-1" strike="noStrike">
                <a:latin typeface="Arial"/>
              </a:rPr>
              <a:t> , ..., μ</a:t>
            </a:r>
            <a:r>
              <a:rPr b="0" lang="de-DE" sz="3200" spc="-1" strike="noStrike" baseline="33000">
                <a:latin typeface="Arial"/>
              </a:rPr>
              <a:t>i</a:t>
            </a:r>
            <a:r>
              <a:rPr b="0" lang="de-DE" sz="3200" spc="-1" strike="noStrike" baseline="-33000">
                <a:latin typeface="Arial"/>
              </a:rPr>
              <a:t>k</a:t>
            </a:r>
            <a:r>
              <a:rPr b="0" lang="de-DE" sz="3200" spc="-1" strike="noStrike">
                <a:latin typeface="Arial"/>
              </a:rPr>
              <a:t> } = {s</a:t>
            </a:r>
            <a:r>
              <a:rPr b="0" lang="de-DE" sz="3200" spc="-1" strike="noStrike" baseline="33000">
                <a:latin typeface="Arial"/>
              </a:rPr>
              <a:t>i</a:t>
            </a:r>
            <a:r>
              <a:rPr b="0" lang="de-DE" sz="3200" spc="-1" strike="noStrike" baseline="-33000">
                <a:latin typeface="Arial"/>
              </a:rPr>
              <a:t>1</a:t>
            </a:r>
            <a:r>
              <a:rPr b="0" lang="de-DE" sz="3200" spc="-1" strike="noStrike">
                <a:latin typeface="Arial"/>
              </a:rPr>
              <a:t> , ..., s</a:t>
            </a:r>
            <a:r>
              <a:rPr b="0" lang="de-DE" sz="3200" spc="-1" strike="noStrike" baseline="33000">
                <a:latin typeface="Arial"/>
              </a:rPr>
              <a:t>i</a:t>
            </a:r>
            <a:r>
              <a:rPr b="0" lang="de-DE" sz="3200" spc="-1" strike="noStrike" baseline="-33000">
                <a:latin typeface="Arial"/>
              </a:rPr>
              <a:t>k</a:t>
            </a:r>
            <a:r>
              <a:rPr b="0" lang="de-DE" sz="3200" spc="-1" strike="noStrike">
                <a:latin typeface="Arial"/>
              </a:rPr>
              <a:t>}, i ∈ {1, ..., n}</a:t>
            </a:r>
            <a:r>
              <a:rPr b="0" lang="de-DE" sz="3200" spc="-1" strike="noStrike">
                <a:latin typeface="Arial"/>
              </a:rPr>
              <a:t>	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s</a:t>
            </a:r>
            <a:r>
              <a:rPr b="0" lang="de-DE" sz="3200" spc="-1" strike="noStrike" baseline="33000">
                <a:latin typeface="Arial"/>
              </a:rPr>
              <a:t>i</a:t>
            </a:r>
            <a:r>
              <a:rPr b="0" lang="de-DE" sz="3200" spc="-1" strike="noStrike" baseline="-33000">
                <a:latin typeface="Arial"/>
              </a:rPr>
              <a:t>j</a:t>
            </a:r>
            <a:r>
              <a:rPr b="0" lang="de-DE" sz="3200" spc="-1" strike="noStrike">
                <a:latin typeface="Arial"/>
              </a:rPr>
              <a:t> ist</a:t>
            </a:r>
            <a:r>
              <a:rPr b="0" lang="de-DE" sz="3200" spc="-1" strike="noStrike">
                <a:latin typeface="Arial"/>
              </a:rPr>
              <a:t> die i-te Variable der j-ten Lösung ist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ω</a:t>
            </a:r>
            <a:r>
              <a:rPr b="0" lang="de-DE" sz="3200" spc="-1" strike="noStrike" baseline="-33000">
                <a:latin typeface="Arial"/>
              </a:rPr>
              <a:t>l</a:t>
            </a:r>
            <a:r>
              <a:rPr b="0" lang="de-DE" sz="3200" spc="-1" strike="noStrike">
                <a:latin typeface="Arial"/>
              </a:rPr>
              <a:t> (Gewichte der Lösungen)</a:t>
            </a:r>
            <a:r>
              <a:rPr b="0" lang="de-DE" sz="3200" spc="-1" strike="noStrike">
                <a:latin typeface="Arial"/>
              </a:rPr>
              <a:t> wird wie folgt berechnet:</a:t>
            </a:r>
            <a:endParaRPr b="0" lang="de-DE" sz="3200" spc="-1" strike="noStrike"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72" name="Formula 2"/>
              <p:cNvSpPr txBox="1"/>
              <p:nvPr/>
            </p:nvSpPr>
            <p:spPr>
              <a:xfrm>
                <a:off x="3384000" y="3816000"/>
                <a:ext cx="2755440" cy="655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ω</m:t>
                        </m:r>
                      </m:e>
                      <m:sub>
                        <m:r>
                          <m:t xml:space="preserve">l</m:t>
                        </m:r>
                      </m:sub>
                    </m:sSub>
                    <m:r>
                      <m:t xml:space="preserve">=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sSubSup>
                          <m:e>
                            <m:r>
                              <m:t xml:space="preserve">σ</m:t>
                            </m:r>
                          </m:e>
                          <m:sub>
                            <m:r>
                              <m:t xml:space="preserve">l</m:t>
                            </m:r>
                          </m:sub>
                          <m:sup>
                            <m:r>
                              <m:t xml:space="preserve">i</m:t>
                            </m:r>
                          </m:sup>
                        </m:sSubSup>
                        <m:rad>
                          <m:radPr>
                            <m:degHide m:val="1"/>
                          </m:radPr>
                          <m:deg/>
                          <m:e>
                            <m:r>
                              <m:t xml:space="preserve">2</m:t>
                            </m:r>
                            <m:r>
                              <m:t xml:space="preserve">π</m:t>
                            </m:r>
                          </m:e>
                        </m:rad>
                      </m:den>
                    </m:f>
                    <m:sSup>
                      <m:e>
                        <m:r>
                          <m:t xml:space="preserve">e</m:t>
                        </m:r>
                      </m:e>
                      <m:sup>
                        <m:r>
                          <m:t xml:space="preserve">−</m:t>
                        </m:r>
                        <m:f>
                          <m:num>
                            <m:sSup>
                              <m:e>
                                <m:d>
                                  <m:dPr>
                                    <m:begChr m:val="("/>
                                    <m:endChr m:val=")"/>
                                  </m:dPr>
                                  <m:e>
                                    <m:r>
                                      <m:t xml:space="preserve">l</m:t>
                                    </m:r>
                                    <m:r>
                                      <m:t xml:space="preserve">−</m:t>
                                    </m:r>
                                    <m:r>
                                      <m:t xml:space="preserve">1</m:t>
                                    </m:r>
                                  </m:e>
                                </m:d>
                              </m:e>
                              <m:sup>
                                <m:r>
                                  <m:t xml:space="preserve">2</m:t>
                                </m:r>
                              </m:sup>
                            </m:sSup>
                          </m:num>
                          <m:den>
                            <m:r>
                              <m:t xml:space="preserve">2</m:t>
                            </m:r>
                            <m:sSup>
                              <m:e>
                                <m:r>
                                  <m:t xml:space="preserve">q</m:t>
                                </m:r>
                              </m:e>
                              <m:sup>
                                <m:r>
                                  <m:t xml:space="preserve">2</m:t>
                                </m:r>
                              </m:sup>
                            </m:sSup>
                            <m:sSup>
                              <m:e>
                                <m:r>
                                  <m:t xml:space="preserve">k</m:t>
                                </m:r>
                              </m:e>
                              <m:sup>
                                <m:r>
                                  <m:t xml:space="preserve"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m:t xml:space="preserve">,</m:t>
                    </m:r>
                    <m:r>
                      <m:t xml:space="preserve">l</m:t>
                    </m:r>
                    <m:r>
                      <m:t xml:space="preserve">∈</m:t>
                    </m:r>
                    <m:d>
                      <m:dPr>
                        <m:begChr m:val="{"/>
                        <m:endChr m:val="}"/>
                      </m:dPr>
                      <m:e>
                        <m:r>
                          <m:t xml:space="preserve">1,</m:t>
                        </m:r>
                        <m:r>
                          <m:t xml:space="preserve">...</m:t>
                        </m:r>
                        <m:r>
                          <m:t xml:space="preserve">,</m:t>
                        </m:r>
                        <m:r>
                          <m:t xml:space="preserve">k</m:t>
                        </m:r>
                      </m:e>
                    </m:d>
                  </m:oMath>
                </a14:m>
              </a:p>
            </p:txBody>
          </p:sp>
        </mc:Choice>
        <mc:Fallback/>
      </mc:AlternateContent>
    </p:spTree>
  </p:cSld>
  <p:timing>
    <p:tnLst>
      <p:par>
        <p:cTn id="35" dur="indefinite" restart="never" nodeType="tmRoot">
          <p:childTnLst>
            <p:seq>
              <p:cTn id="3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Shape 1"/>
          <p:cNvSpPr txBox="1"/>
          <p:nvPr/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danach wird die l-te Gaußfunktion nach der Wahrscheinlichkeitsverteilung von p</a:t>
            </a:r>
            <a:r>
              <a:rPr b="0" lang="de-DE" sz="3200" spc="-1" strike="noStrike" baseline="-33000">
                <a:latin typeface="Arial"/>
              </a:rPr>
              <a:t>l</a:t>
            </a:r>
            <a:r>
              <a:rPr b="0" lang="de-DE" sz="3200" spc="-1" strike="noStrike">
                <a:latin typeface="Arial"/>
              </a:rPr>
              <a:t> gewählt: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Standardabweichung im i-ten Konstruktionsschritt wird wie folgt berechnet: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3200" spc="-1" strike="noStrike"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74" name="Formula 2"/>
              <p:cNvSpPr txBox="1"/>
              <p:nvPr/>
            </p:nvSpPr>
            <p:spPr>
              <a:xfrm>
                <a:off x="720000" y="1836000"/>
                <a:ext cx="2156400" cy="8280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p</m:t>
                        </m:r>
                      </m:e>
                      <m:sub>
                        <m:r>
                          <m:t xml:space="preserve">l</m:t>
                        </m:r>
                      </m:sub>
                    </m:sSub>
                    <m:r>
                      <m:t xml:space="preserve">=</m:t>
                    </m:r>
                    <m:f>
                      <m:num>
                        <m:sSub>
                          <m:e>
                            <m:r>
                              <m:t xml:space="preserve">ω</m:t>
                            </m:r>
                          </m:e>
                          <m:sub>
                            <m:r>
                              <m:t xml:space="preserve">l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</m:naryPr>
                          <m:sub>
                            <m:r>
                              <m:t xml:space="preserve">r</m:t>
                            </m:r>
                            <m:r>
                              <m:t xml:space="preserve">=</m:t>
                            </m:r>
                            <m:r>
                              <m:t xml:space="preserve">1</m:t>
                            </m:r>
                          </m:sub>
                          <m:sup>
                            <m:r>
                              <m:t xml:space="preserve">k</m:t>
                            </m:r>
                          </m:sup>
                          <m:e>
                            <m:sSub>
                              <m:e>
                                <m:r>
                                  <m:t xml:space="preserve">ω</m:t>
                                </m:r>
                              </m:e>
                              <m:sub>
                                <m:r>
                                  <m:t xml:space="preserve">r</m:t>
                                </m:r>
                              </m:sub>
                            </m:sSub>
                          </m:e>
                        </m:nary>
                      </m:den>
                    </m:f>
                    <m:r>
                      <m:t xml:space="preserve">,</m:t>
                    </m:r>
                    <m:r>
                      <m:t xml:space="preserve">l</m:t>
                    </m:r>
                    <m:r>
                      <m:t xml:space="preserve">∈</m:t>
                    </m:r>
                    <m:d>
                      <m:dPr>
                        <m:begChr m:val="{"/>
                        <m:endChr m:val="}"/>
                      </m:dPr>
                      <m:e>
                        <m:r>
                          <m:t xml:space="preserve">1,</m:t>
                        </m:r>
                        <m:r>
                          <m:t xml:space="preserve">...</m:t>
                        </m:r>
                        <m:r>
                          <m:t xml:space="preserve">,</m:t>
                        </m:r>
                        <m:r>
                          <m:t xml:space="preserve">k</m:t>
                        </m:r>
                      </m:e>
                    </m:d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75" name="Formula 3"/>
              <p:cNvSpPr txBox="1"/>
              <p:nvPr/>
            </p:nvSpPr>
            <p:spPr>
              <a:xfrm>
                <a:off x="752400" y="3960000"/>
                <a:ext cx="4359600" cy="7200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Sup>
                      <m:e>
                        <m:r>
                          <m:t xml:space="preserve">σ</m:t>
                        </m:r>
                      </m:e>
                      <m:sub>
                        <m:r>
                          <m:t xml:space="preserve">l</m:t>
                        </m:r>
                      </m:sub>
                      <m:sup>
                        <m:r>
                          <m:t xml:space="preserve">i</m:t>
                        </m:r>
                      </m:sup>
                    </m:sSubSup>
                    <m:r>
                      <m:t xml:space="preserve">=</m:t>
                    </m:r>
                    <m:r>
                      <m:t xml:space="preserve">ξ</m:t>
                    </m:r>
                    <m:nary>
                      <m:naryPr>
                        <m:chr m:val="∑"/>
                      </m:naryPr>
                      <m:sub>
                        <m:r>
                          <m:t xml:space="preserve">e</m:t>
                        </m:r>
                        <m:r>
                          <m:t xml:space="preserve">=</m:t>
                        </m:r>
                        <m:r>
                          <m:t xml:space="preserve">1</m:t>
                        </m:r>
                      </m:sub>
                      <m:sup>
                        <m:r>
                          <m:t xml:space="preserve">k</m:t>
                        </m:r>
                      </m:sup>
                      <m:e>
                        <m:f>
                          <m:num>
                            <m:d>
                              <m:dPr>
                                <m:begChr m:val="|"/>
                                <m:endChr m:val="|"/>
                              </m:dPr>
                              <m:e>
                                <m:sSubSup>
                                  <m:e>
                                    <m:r>
                                      <m:t xml:space="preserve">s</m:t>
                                    </m:r>
                                  </m:e>
                                  <m:sub>
                                    <m:r>
                                      <m:t xml:space="preserve">e</m:t>
                                    </m:r>
                                  </m:sub>
                                  <m:sup>
                                    <m:r>
                                      <m:t xml:space="preserve">i</m:t>
                                    </m:r>
                                  </m:sup>
                                </m:sSubSup>
                                <m:r>
                                  <m:t xml:space="preserve">−</m:t>
                                </m:r>
                                <m:sSubSup>
                                  <m:e>
                                    <m:r>
                                      <m:t xml:space="preserve">s</m:t>
                                    </m:r>
                                  </m:e>
                                  <m:sub>
                                    <m:r>
                                      <m:t xml:space="preserve">l</m:t>
                                    </m:r>
                                  </m:sub>
                                  <m:sup>
                                    <m:r>
                                      <m:t xml:space="preserve">i</m:t>
                                    </m:r>
                                  </m:sup>
                                </m:sSubSup>
                              </m:e>
                            </m:d>
                          </m:num>
                          <m:den>
                            <m:r>
                              <m:t xml:space="preserve">k</m:t>
                            </m:r>
                            <m:r>
                              <m:t xml:space="preserve">−</m:t>
                            </m:r>
                            <m:r>
                              <m:t xml:space="preserve">1</m:t>
                            </m:r>
                          </m:den>
                        </m:f>
                      </m:e>
                    </m:nary>
                    <m:r>
                      <m:t xml:space="preserve">,</m:t>
                    </m:r>
                    <m:r>
                      <m:t xml:space="preserve">l</m:t>
                    </m:r>
                    <m:r>
                      <m:t xml:space="preserve">∈</m:t>
                    </m:r>
                    <m:d>
                      <m:dPr>
                        <m:begChr m:val="{"/>
                        <m:endChr m:val="}"/>
                      </m:dPr>
                      <m:e>
                        <m:r>
                          <m:t xml:space="preserve">1,</m:t>
                        </m:r>
                        <m:r>
                          <m:t xml:space="preserve">...</m:t>
                        </m:r>
                        <m:r>
                          <m:t xml:space="preserve">,</m:t>
                        </m:r>
                        <m:r>
                          <m:t xml:space="preserve">k</m:t>
                        </m:r>
                      </m:e>
                    </m:d>
                    <m:r>
                      <m:t xml:space="preserve">,</m:t>
                    </m:r>
                    <m:r>
                      <m:t xml:space="preserve">i</m:t>
                    </m:r>
                    <m:r>
                      <m:t xml:space="preserve">∈</m:t>
                    </m:r>
                    <m:d>
                      <m:dPr>
                        <m:begChr m:val="{"/>
                        <m:endChr m:val="}"/>
                      </m:dPr>
                      <m:e>
                        <m:r>
                          <m:t xml:space="preserve">1,</m:t>
                        </m:r>
                        <m:r>
                          <m:t xml:space="preserve">...</m:t>
                        </m:r>
                        <m:r>
                          <m:t xml:space="preserve">,</m:t>
                        </m:r>
                        <m:r>
                          <m:t xml:space="preserve">n</m:t>
                        </m:r>
                      </m:e>
                    </m:d>
                  </m:oMath>
                </a14:m>
              </a:p>
            </p:txBody>
          </p:sp>
        </mc:Choice>
        <mc:Fallback/>
      </mc:AlternateContent>
    </p:spTree>
  </p:cSld>
  <p:timing>
    <p:tnLst>
      <p:par>
        <p:cTn id="37" dur="indefinite" restart="never" nodeType="tmRoot">
          <p:childTnLst>
            <p:seq>
              <p:cTn id="3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de-DE" sz="4400" spc="-1" strike="noStrike">
                <a:latin typeface="Arial"/>
              </a:rPr>
              <a:t>ACO</a:t>
            </a:r>
            <a:r>
              <a:rPr b="0" lang="de-DE" sz="4400" spc="-1" strike="noStrike" baseline="-33000">
                <a:latin typeface="Arial"/>
              </a:rPr>
              <a:t>R</a:t>
            </a:r>
            <a:r>
              <a:rPr b="0" lang="de-DE" sz="4400" spc="-1" strike="noStrike">
                <a:latin typeface="Arial"/>
              </a:rPr>
              <a:t>-simple</a:t>
            </a:r>
            <a:endParaRPr b="0" lang="de-DE" sz="4400" spc="-1" strike="noStrike">
              <a:latin typeface="Arial"/>
            </a:endParaRPr>
          </a:p>
        </p:txBody>
      </p:sp>
      <p:sp>
        <p:nvSpPr>
          <p:cNvPr id="77" name="TextShape 2"/>
          <p:cNvSpPr txBox="1"/>
          <p:nvPr/>
        </p:nvSpPr>
        <p:spPr>
          <a:xfrm>
            <a:off x="504000" y="949680"/>
            <a:ext cx="9071640" cy="4392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Lösungsarchiv wie in ACO</a:t>
            </a:r>
            <a:r>
              <a:rPr b="0" lang="de-DE" sz="3200" spc="-1" strike="noStrike" baseline="-33000">
                <a:latin typeface="Arial"/>
              </a:rPr>
              <a:t>R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vorhandene Lösungen werden auf sehr viel einfachere Weise zu einer neuen Lösung zusammengesetzt – deswegen simple, also einfach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  <a:ea typeface="AR PL SungtiL GB"/>
              </a:rPr>
              <a:t>selbige Gewichtung der Lösungen wie in</a:t>
            </a:r>
            <a:r>
              <a:rPr b="0" lang="de-DE" sz="3200" spc="-1" strike="noStrike">
                <a:latin typeface="Arial"/>
              </a:rPr>
              <a:t> ACO</a:t>
            </a:r>
            <a:r>
              <a:rPr b="0" lang="de-DE" sz="3200" spc="-1" strike="noStrike" baseline="-33000">
                <a:latin typeface="Arial"/>
              </a:rPr>
              <a:t>R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  <a:ea typeface="AR PL SungtiL GB"/>
              </a:rPr>
              <a:t>gleiche Wahrscheinlichkeitsverteilung wie in</a:t>
            </a:r>
            <a:r>
              <a:rPr b="0" lang="de-DE" sz="3200" spc="-1" strike="noStrike">
                <a:latin typeface="Arial"/>
              </a:rPr>
              <a:t> ACO</a:t>
            </a:r>
            <a:r>
              <a:rPr b="0" lang="de-DE" sz="3200" spc="-1" strike="noStrike" baseline="-33000">
                <a:latin typeface="Arial"/>
              </a:rPr>
              <a:t>R</a:t>
            </a:r>
            <a:r>
              <a:rPr b="0" lang="de-DE" sz="3200" spc="-1" strike="noStrike">
                <a:latin typeface="Arial"/>
              </a:rPr>
              <a:t>,</a:t>
            </a:r>
            <a:r>
              <a:rPr b="0" lang="de-DE" sz="3200" spc="-1" strike="noStrike">
                <a:latin typeface="Arial"/>
              </a:rPr>
              <a:t> anhand welcher Lösung für Kontstruktionsdurchgang gewählt wird</a:t>
            </a:r>
            <a:endParaRPr b="0" lang="de-DE" sz="3200" spc="-1" strike="noStrike">
              <a:latin typeface="Arial"/>
            </a:endParaRPr>
          </a:p>
        </p:txBody>
      </p:sp>
    </p:spTree>
  </p:cSld>
  <p:timing>
    <p:tnLst>
      <p:par>
        <p:cTn id="39" dur="indefinite" restart="never" nodeType="tmRoot">
          <p:childTnLst>
            <p:seq>
              <p:cTn id="4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Shape 1"/>
          <p:cNvSpPr txBox="1"/>
          <p:nvPr/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Berechnung der linearen Abweichung in der d-ten Dimension im i-ten Schritt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abschließend auswählen eines zufälligen Punktes aus dem Intervall [s</a:t>
            </a:r>
            <a:r>
              <a:rPr b="0" lang="de-DE" sz="3200" spc="-1" strike="noStrike" baseline="-33000">
                <a:latin typeface="Arial"/>
              </a:rPr>
              <a:t>d</a:t>
            </a:r>
            <a:r>
              <a:rPr b="0" lang="de-DE" sz="3200" spc="-1" strike="noStrike">
                <a:latin typeface="Arial"/>
              </a:rPr>
              <a:t> − δ</a:t>
            </a:r>
            <a:r>
              <a:rPr b="0" lang="de-DE" sz="3200" spc="-1" strike="noStrike" baseline="-33000">
                <a:latin typeface="Arial"/>
              </a:rPr>
              <a:t>d</a:t>
            </a:r>
            <a:r>
              <a:rPr b="0" lang="de-DE" sz="3200" spc="-1" strike="noStrike">
                <a:latin typeface="Arial"/>
              </a:rPr>
              <a:t>, s</a:t>
            </a:r>
            <a:r>
              <a:rPr b="0" lang="de-DE" sz="3200" spc="-1" strike="noStrike" baseline="-33000">
                <a:latin typeface="Arial"/>
              </a:rPr>
              <a:t>d</a:t>
            </a:r>
            <a:r>
              <a:rPr b="0" lang="de-DE" sz="3200" spc="-1" strike="noStrike">
                <a:latin typeface="Arial"/>
              </a:rPr>
              <a:t> + δ</a:t>
            </a:r>
            <a:r>
              <a:rPr b="0" lang="de-DE" sz="3200" spc="-1" strike="noStrike" baseline="-33000">
                <a:latin typeface="Arial"/>
              </a:rPr>
              <a:t>d</a:t>
            </a:r>
            <a:r>
              <a:rPr b="0" lang="de-DE" sz="3200" spc="-1" strike="noStrike">
                <a:latin typeface="Arial"/>
              </a:rPr>
              <a:t>], d ∈ {1, ..., n}</a:t>
            </a:r>
            <a:endParaRPr b="0" lang="de-DE" sz="3200" spc="-1" strike="noStrike"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79" name="Formula 2"/>
              <p:cNvSpPr txBox="1"/>
              <p:nvPr/>
            </p:nvSpPr>
            <p:spPr>
              <a:xfrm>
                <a:off x="4686480" y="2660760"/>
                <a:ext cx="719640" cy="359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/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80" name="Formula 3"/>
              <p:cNvSpPr txBox="1"/>
              <p:nvPr/>
            </p:nvSpPr>
            <p:spPr>
              <a:xfrm>
                <a:off x="720000" y="1872000"/>
                <a:ext cx="3907080" cy="5760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δ</m:t>
                        </m:r>
                      </m:e>
                      <m:sub>
                        <m:r>
                          <m:t xml:space="preserve">d</m:t>
                        </m:r>
                      </m:sub>
                    </m:sSub>
                    <m:r>
                      <m:t xml:space="preserve">=</m:t>
                    </m:r>
                    <m:r>
                      <m:t xml:space="preserve">ξ</m:t>
                    </m:r>
                    <m:nary>
                      <m:naryPr>
                        <m:chr m:val="∑"/>
                      </m:naryPr>
                      <m:sub>
                        <m:r>
                          <m:t xml:space="preserve">j</m:t>
                        </m:r>
                        <m:r>
                          <m:t xml:space="preserve">=</m:t>
                        </m:r>
                        <m:r>
                          <m:t xml:space="preserve">1</m:t>
                        </m:r>
                      </m:sub>
                      <m:sup>
                        <m:r>
                          <m:t xml:space="preserve">k</m:t>
                        </m:r>
                      </m:sup>
                      <m:e>
                        <m:f>
                          <m:num>
                            <m:d>
                              <m:dPr>
                                <m:begChr m:val="|"/>
                                <m:endChr m:val="|"/>
                              </m:dPr>
                              <m:e>
                                <m:sSub>
                                  <m:e>
                                    <m:r>
                                      <m:t xml:space="preserve">s</m:t>
                                    </m:r>
                                  </m:e>
                                  <m:sub>
                                    <m:r>
                                      <m:t xml:space="preserve">i</m:t>
                                    </m:r>
                                    <m:r>
                                      <m:t xml:space="preserve">,</m:t>
                                    </m:r>
                                    <m:r>
                                      <m:t xml:space="preserve">d</m:t>
                                    </m:r>
                                  </m:sub>
                                </m:sSub>
                                <m:r>
                                  <m:t xml:space="preserve">−</m:t>
                                </m:r>
                                <m:sSub>
                                  <m:e>
                                    <m:r>
                                      <m:t xml:space="preserve">s</m:t>
                                    </m:r>
                                  </m:e>
                                  <m:sub>
                                    <m:r>
                                      <m:t xml:space="preserve">i</m:t>
                                    </m:r>
                                    <m:r>
                                      <m:t xml:space="preserve">,</m:t>
                                    </m:r>
                                    <m:r>
                                      <m:t xml:space="preserve">d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m:t xml:space="preserve">k</m:t>
                            </m:r>
                            <m:r>
                              <m:t xml:space="preserve">−</m:t>
                            </m:r>
                            <m:r>
                              <m:t xml:space="preserve">1</m:t>
                            </m:r>
                          </m:den>
                        </m:f>
                      </m:e>
                    </m:nary>
                    <m:r>
                      <m:t xml:space="preserve">,</m:t>
                    </m:r>
                    <m:r>
                      <m:t xml:space="preserve">j</m:t>
                    </m:r>
                    <m:r>
                      <m:t xml:space="preserve">∈</m:t>
                    </m:r>
                    <m:d>
                      <m:dPr>
                        <m:begChr m:val="{"/>
                        <m:endChr m:val="}"/>
                      </m:dPr>
                      <m:e>
                        <m:r>
                          <m:t xml:space="preserve">1,</m:t>
                        </m:r>
                        <m:r>
                          <m:t xml:space="preserve">...</m:t>
                        </m:r>
                        <m:r>
                          <m:t xml:space="preserve">,</m:t>
                        </m:r>
                        <m:r>
                          <m:t xml:space="preserve">k</m:t>
                        </m:r>
                      </m:e>
                    </m:d>
                    <m:r>
                      <m:t xml:space="preserve">,</m:t>
                    </m:r>
                    <m:r>
                      <m:t xml:space="preserve">d</m:t>
                    </m:r>
                    <m:r>
                      <m:t xml:space="preserve">∈</m:t>
                    </m:r>
                    <m:d>
                      <m:dPr>
                        <m:begChr m:val="{"/>
                        <m:endChr m:val="}"/>
                      </m:dPr>
                      <m:e>
                        <m:r>
                          <m:t xml:space="preserve">1,</m:t>
                        </m:r>
                        <m:r>
                          <m:t xml:space="preserve">...</m:t>
                        </m:r>
                        <m:r>
                          <m:t xml:space="preserve">,</m:t>
                        </m:r>
                        <m:r>
                          <m:t xml:space="preserve">n</m:t>
                        </m:r>
                      </m:e>
                    </m:d>
                  </m:oMath>
                </a14:m>
              </a:p>
            </p:txBody>
          </p:sp>
        </mc:Choice>
        <mc:Fallback/>
      </mc:AlternateContent>
    </p:spTree>
  </p:cSld>
  <p:timing>
    <p:tnLst>
      <p:par>
        <p:cTn id="41" dur="indefinite" restart="never" nodeType="tmRoot">
          <p:childTnLst>
            <p:seq>
              <p:cTn id="4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Shape 1"/>
          <p:cNvSpPr txBox="1"/>
          <p:nvPr/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Parametereinstellungen ACO</a:t>
            </a:r>
            <a:r>
              <a:rPr b="0" lang="de-DE" sz="3200" spc="-1" strike="noStrike" baseline="-33000">
                <a:latin typeface="Arial"/>
              </a:rPr>
              <a:t>R</a:t>
            </a:r>
            <a:r>
              <a:rPr b="0" lang="de-DE" sz="3200" spc="-1" strike="noStrike">
                <a:latin typeface="Arial"/>
              </a:rPr>
              <a:t>-simple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Anzahl der Ameisen – m: 1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Konvergenzgeschwindigkeit – ξ: 0.95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  <a:ea typeface="AR PL SungtiL GB"/>
              </a:rPr>
              <a:t>Lokalität der Suche – q: </a:t>
            </a:r>
            <a:r>
              <a:rPr b="0" lang="de-DE" sz="3200" spc="-1" strike="noStrike">
                <a:latin typeface="Arial"/>
              </a:rPr>
              <a:t>0.95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Archivgröße – k: 100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Parameter gefunden durch trial-and-error</a:t>
            </a:r>
            <a:endParaRPr b="0" lang="de-DE" sz="3200" spc="-1" strike="noStrike">
              <a:latin typeface="Arial"/>
            </a:endParaRPr>
          </a:p>
        </p:txBody>
      </p:sp>
    </p:spTree>
  </p:cSld>
  <p:timing>
    <p:tnLst>
      <p:par>
        <p:cTn id="43" dur="indefinite" restart="never" nodeType="tmRoot">
          <p:childTnLst>
            <p:seq>
              <p:cTn id="4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de-DE" sz="4400" spc="-1" strike="noStrike">
                <a:latin typeface="Arial"/>
              </a:rPr>
              <a:t>ACO</a:t>
            </a:r>
            <a:r>
              <a:rPr b="0" lang="de-DE" sz="4400" spc="-1" strike="noStrike" baseline="-33000">
                <a:latin typeface="Arial"/>
              </a:rPr>
              <a:t>R</a:t>
            </a:r>
            <a:r>
              <a:rPr b="0" lang="de-DE" sz="4400" spc="-1" strike="noStrike">
                <a:latin typeface="Arial"/>
              </a:rPr>
              <a:t>-very-simple</a:t>
            </a:r>
            <a:endParaRPr b="0" lang="de-DE" sz="4400" spc="-1" strike="noStrike">
              <a:latin typeface="Arial"/>
            </a:endParaRPr>
          </a:p>
        </p:txBody>
      </p:sp>
      <p:sp>
        <p:nvSpPr>
          <p:cNvPr id="83" name="TextShape 2"/>
          <p:cNvSpPr txBox="1"/>
          <p:nvPr/>
        </p:nvSpPr>
        <p:spPr>
          <a:xfrm>
            <a:off x="504000" y="1172520"/>
            <a:ext cx="9071640" cy="4351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latin typeface="Arial"/>
              </a:rPr>
              <a:t>Lösungsarchiv wie in ACO</a:t>
            </a:r>
            <a:r>
              <a:rPr b="0" lang="de-DE" sz="2800" spc="-1" strike="noStrike" baseline="-33000">
                <a:latin typeface="Arial"/>
              </a:rPr>
              <a:t>R</a:t>
            </a: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latin typeface="Arial"/>
              </a:rPr>
              <a:t>vorhandene Lösungen werden auf noch einfachere Weise zu einer neuen Lösung zusammengesetzt als bei ACO</a:t>
            </a:r>
            <a:r>
              <a:rPr b="0" lang="de-DE" sz="2800" spc="-1" strike="noStrike" baseline="-33000">
                <a:latin typeface="Arial"/>
              </a:rPr>
              <a:t>R</a:t>
            </a:r>
            <a:r>
              <a:rPr b="0" lang="de-DE" sz="2800" spc="-1" strike="noStrike">
                <a:latin typeface="Arial"/>
              </a:rPr>
              <a:t>-simple – deswegen very simple, also sehr einfach</a:t>
            </a: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latin typeface="Arial"/>
              </a:rPr>
              <a:t>es wird immer nur die erste, also beste Lösung aus dem Archiv zur Intervallberechnung benutzt</a:t>
            </a: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latin typeface="Arial"/>
              </a:rPr>
              <a:t>Gewichtung der Lösungen entfällt</a:t>
            </a: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latin typeface="Arial"/>
              </a:rPr>
              <a:t>Wahrscheinlichkeitsverteilung zur Bestimmung einer Lösung entfällt</a:t>
            </a:r>
            <a:endParaRPr b="0" lang="de-DE" sz="2800" spc="-1" strike="noStrike">
              <a:latin typeface="Arial"/>
            </a:endParaRPr>
          </a:p>
        </p:txBody>
      </p:sp>
    </p:spTree>
  </p:cSld>
  <p:timing>
    <p:tnLst>
      <p:par>
        <p:cTn id="45" dur="indefinite" restart="never" nodeType="tmRoot">
          <p:childTnLst>
            <p:seq>
              <p:cTn id="4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Shape 1"/>
          <p:cNvSpPr txBox="1"/>
          <p:nvPr/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Berechnung der linearen Abweichung in der d-ten Dimension im i-ten Schritt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abschließend auswählen eines zufälligen Punktes aus dem Intervall [s</a:t>
            </a:r>
            <a:r>
              <a:rPr b="0" lang="de-DE" sz="3200" spc="-1" strike="noStrike" baseline="-33000">
                <a:latin typeface="Arial"/>
              </a:rPr>
              <a:t>d</a:t>
            </a:r>
            <a:r>
              <a:rPr b="0" lang="de-DE" sz="3200" spc="-1" strike="noStrike">
                <a:latin typeface="Arial"/>
              </a:rPr>
              <a:t> − δ</a:t>
            </a:r>
            <a:r>
              <a:rPr b="0" lang="de-DE" sz="3200" spc="-1" strike="noStrike" baseline="-33000">
                <a:latin typeface="Arial"/>
              </a:rPr>
              <a:t>d</a:t>
            </a:r>
            <a:r>
              <a:rPr b="0" lang="de-DE" sz="3200" spc="-1" strike="noStrike">
                <a:latin typeface="Arial"/>
              </a:rPr>
              <a:t>, s</a:t>
            </a:r>
            <a:r>
              <a:rPr b="0" lang="de-DE" sz="3200" spc="-1" strike="noStrike" baseline="-33000">
                <a:latin typeface="Arial"/>
              </a:rPr>
              <a:t>d</a:t>
            </a:r>
            <a:r>
              <a:rPr b="0" lang="de-DE" sz="3200" spc="-1" strike="noStrike">
                <a:latin typeface="Arial"/>
              </a:rPr>
              <a:t> + δ</a:t>
            </a:r>
            <a:r>
              <a:rPr b="0" lang="de-DE" sz="3200" spc="-1" strike="noStrike" baseline="-33000">
                <a:latin typeface="Arial"/>
              </a:rPr>
              <a:t>d</a:t>
            </a:r>
            <a:r>
              <a:rPr b="0" lang="de-DE" sz="3200" spc="-1" strike="noStrike">
                <a:latin typeface="Arial"/>
              </a:rPr>
              <a:t>], d ∈ {1, ..., n}</a:t>
            </a:r>
            <a:endParaRPr b="0" lang="de-DE" sz="3200" spc="-1" strike="noStrike"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85" name="Formula 2"/>
              <p:cNvSpPr txBox="1"/>
              <p:nvPr/>
            </p:nvSpPr>
            <p:spPr>
              <a:xfrm>
                <a:off x="700920" y="1944000"/>
                <a:ext cx="3907080" cy="5760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δ</m:t>
                        </m:r>
                      </m:e>
                      <m:sub>
                        <m:r>
                          <m:t xml:space="preserve">d</m:t>
                        </m:r>
                      </m:sub>
                    </m:sSub>
                    <m:r>
                      <m:t xml:space="preserve">=</m:t>
                    </m:r>
                    <m:r>
                      <m:t xml:space="preserve">ξ</m:t>
                    </m:r>
                    <m:nary>
                      <m:naryPr>
                        <m:chr m:val="∑"/>
                      </m:naryPr>
                      <m:sub>
                        <m:r>
                          <m:t xml:space="preserve">j</m:t>
                        </m:r>
                        <m:r>
                          <m:t xml:space="preserve">=</m:t>
                        </m:r>
                        <m:r>
                          <m:t xml:space="preserve">1</m:t>
                        </m:r>
                      </m:sub>
                      <m:sup>
                        <m:r>
                          <m:t xml:space="preserve">k</m:t>
                        </m:r>
                      </m:sup>
                      <m:e>
                        <m:f>
                          <m:num>
                            <m:d>
                              <m:dPr>
                                <m:begChr m:val="|"/>
                                <m:endChr m:val="|"/>
                              </m:dPr>
                              <m:e>
                                <m:sSub>
                                  <m:e>
                                    <m:r>
                                      <m:t xml:space="preserve">s</m:t>
                                    </m:r>
                                  </m:e>
                                  <m:sub>
                                    <m:r>
                                      <m:t xml:space="preserve">i</m:t>
                                    </m:r>
                                    <m:r>
                                      <m:t xml:space="preserve">,</m:t>
                                    </m:r>
                                    <m:r>
                                      <m:t xml:space="preserve">d</m:t>
                                    </m:r>
                                  </m:sub>
                                </m:sSub>
                                <m:r>
                                  <m:t xml:space="preserve">−</m:t>
                                </m:r>
                                <m:sSub>
                                  <m:e>
                                    <m:r>
                                      <m:t xml:space="preserve">s</m:t>
                                    </m:r>
                                  </m:e>
                                  <m:sub>
                                    <m:r>
                                      <m:t xml:space="preserve">i</m:t>
                                    </m:r>
                                    <m:r>
                                      <m:t xml:space="preserve">,</m:t>
                                    </m:r>
                                    <m:r>
                                      <m:t xml:space="preserve">d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m:t xml:space="preserve">k</m:t>
                            </m:r>
                            <m:r>
                              <m:t xml:space="preserve">−</m:t>
                            </m:r>
                            <m:r>
                              <m:t xml:space="preserve">1</m:t>
                            </m:r>
                          </m:den>
                        </m:f>
                      </m:e>
                    </m:nary>
                    <m:r>
                      <m:t xml:space="preserve">,</m:t>
                    </m:r>
                    <m:r>
                      <m:t xml:space="preserve">j</m:t>
                    </m:r>
                    <m:r>
                      <m:t xml:space="preserve">∈</m:t>
                    </m:r>
                    <m:d>
                      <m:dPr>
                        <m:begChr m:val="{"/>
                        <m:endChr m:val="}"/>
                      </m:dPr>
                      <m:e>
                        <m:r>
                          <m:t xml:space="preserve">1,</m:t>
                        </m:r>
                        <m:r>
                          <m:t xml:space="preserve">...</m:t>
                        </m:r>
                        <m:r>
                          <m:t xml:space="preserve">,</m:t>
                        </m:r>
                        <m:r>
                          <m:t xml:space="preserve">k</m:t>
                        </m:r>
                      </m:e>
                    </m:d>
                    <m:r>
                      <m:t xml:space="preserve">,</m:t>
                    </m:r>
                    <m:r>
                      <m:t xml:space="preserve">d</m:t>
                    </m:r>
                    <m:r>
                      <m:t xml:space="preserve">∈</m:t>
                    </m:r>
                    <m:d>
                      <m:dPr>
                        <m:begChr m:val="{"/>
                        <m:endChr m:val="}"/>
                      </m:dPr>
                      <m:e>
                        <m:r>
                          <m:t xml:space="preserve">1,</m:t>
                        </m:r>
                        <m:r>
                          <m:t xml:space="preserve">...</m:t>
                        </m:r>
                        <m:r>
                          <m:t xml:space="preserve">,</m:t>
                        </m:r>
                        <m:r>
                          <m:t xml:space="preserve">n</m:t>
                        </m:r>
                      </m:e>
                    </m:d>
                  </m:oMath>
                </a14:m>
              </a:p>
            </p:txBody>
          </p:sp>
        </mc:Choice>
        <mc:Fallback/>
      </mc:AlternateContent>
    </p:spTree>
  </p:cSld>
  <p:timing>
    <p:tnLst>
      <p:par>
        <p:cTn id="47" dur="indefinite" restart="never" nodeType="tmRoot">
          <p:childTnLst>
            <p:seq>
              <p:cTn id="4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Shape 1"/>
          <p:cNvSpPr txBox="1"/>
          <p:nvPr/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Parametereinstellungen ACO</a:t>
            </a:r>
            <a:r>
              <a:rPr b="0" lang="de-DE" sz="3200" spc="-1" strike="noStrike" baseline="-33000">
                <a:latin typeface="Arial"/>
              </a:rPr>
              <a:t>R</a:t>
            </a:r>
            <a:r>
              <a:rPr b="0" lang="de-DE" sz="3200" spc="-1" strike="noStrike">
                <a:latin typeface="Arial"/>
              </a:rPr>
              <a:t>-very-simple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Anzahl der Ameisen – m: 1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Konvergenzgeschwindigkeit – ξ: 0.95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Archivgröße – k: 100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Parameter gefunden durch trial-and-error</a:t>
            </a:r>
            <a:endParaRPr b="0" lang="de-DE" sz="3200" spc="-1" strike="noStrike">
              <a:latin typeface="Arial"/>
            </a:endParaRPr>
          </a:p>
        </p:txBody>
      </p:sp>
    </p:spTree>
  </p:cSld>
  <p:timing>
    <p:tnLst>
      <p:par>
        <p:cTn id="49" dur="indefinite" restart="never" nodeType="tmRoot">
          <p:childTnLst>
            <p:seq>
              <p:cTn id="5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Shape 1"/>
          <p:cNvSpPr txBox="1"/>
          <p:nvPr/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ACO</a:t>
            </a:r>
            <a:r>
              <a:rPr b="0" lang="de-DE" sz="3200" spc="-1" strike="noStrike" baseline="-33000">
                <a:latin typeface="Arial"/>
              </a:rPr>
              <a:t>R</a:t>
            </a:r>
            <a:r>
              <a:rPr b="0" lang="de-DE" sz="3200" spc="-1" strike="noStrike">
                <a:latin typeface="Arial"/>
              </a:rPr>
              <a:t>-simple generiert Lösungen auch aus schlechteren Lösungen und sucht somit auch in weniger guten Gebieten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ACO</a:t>
            </a:r>
            <a:r>
              <a:rPr b="0" lang="de-DE" sz="3200" spc="-1" strike="noStrike" baseline="-33000">
                <a:latin typeface="Arial"/>
              </a:rPr>
              <a:t>R</a:t>
            </a:r>
            <a:r>
              <a:rPr b="0" lang="de-DE" sz="3200" spc="-1" strike="noStrike">
                <a:latin typeface="Arial"/>
              </a:rPr>
              <a:t>-very-simple sucht nur um die beste Lösung herum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  <a:ea typeface="AR PL SungtiL GB"/>
              </a:rPr>
              <a:t>deswegen ist </a:t>
            </a:r>
            <a:r>
              <a:rPr b="0" lang="de-DE" sz="3200" spc="-1" strike="noStrike">
                <a:latin typeface="Arial"/>
              </a:rPr>
              <a:t>ACO</a:t>
            </a:r>
            <a:r>
              <a:rPr b="0" lang="de-DE" sz="3200" spc="-1" strike="noStrike" baseline="-33000">
                <a:latin typeface="Arial"/>
              </a:rPr>
              <a:t>R</a:t>
            </a:r>
            <a:r>
              <a:rPr b="0" lang="de-DE" sz="3200" spc="-1" strike="noStrike">
                <a:latin typeface="Arial"/>
              </a:rPr>
              <a:t>-simple, nach Intuition, der Favorit</a:t>
            </a:r>
            <a:endParaRPr b="0" lang="de-DE" sz="3200" spc="-1" strike="noStrike">
              <a:latin typeface="Arial"/>
            </a:endParaRPr>
          </a:p>
        </p:txBody>
      </p:sp>
    </p:spTree>
  </p:cSld>
  <p:timing>
    <p:tnLst>
      <p:par>
        <p:cTn id="51" dur="indefinite" restart="never" nodeType="tmRoot">
          <p:childTnLst>
            <p:seq>
              <p:cTn id="5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de-DE" sz="4400" spc="-1" strike="noStrike">
                <a:latin typeface="Arial"/>
              </a:rPr>
              <a:t>Testfunktionen</a:t>
            </a:r>
            <a:endParaRPr b="0" lang="de-DE" sz="4400" spc="-1" strike="noStrike">
              <a:latin typeface="Arial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504000" y="132624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latin typeface="Arial"/>
              </a:rPr>
              <a:t>wenn nicht anders aufgeführt wurden Testfunktionen aus [6] entnommen</a:t>
            </a: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latin typeface="Arial"/>
              </a:rPr>
              <a:t>Branin RCOS-Testfunktion wurde aus [10] entnommen</a:t>
            </a: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latin typeface="Arial"/>
              </a:rPr>
              <a:t>Goldstein and Price-Testfunktion aus [11]</a:t>
            </a: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latin typeface="Arial"/>
              </a:rPr>
              <a:t>Griewangk-Testfunktion wurde aus Molga und Smutnicki [5]</a:t>
            </a: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latin typeface="Arial"/>
              </a:rPr>
              <a:t>Shekel-Testfunktionen aus [7]</a:t>
            </a: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latin typeface="Arial"/>
              </a:rPr>
              <a:t>Hartmann-Testfunktionen aus [8] und [9]</a:t>
            </a:r>
            <a:endParaRPr b="0" lang="de-DE" sz="2800" spc="-1" strike="noStrike">
              <a:latin typeface="Arial"/>
            </a:endParaRPr>
          </a:p>
        </p:txBody>
      </p:sp>
    </p:spTree>
  </p:cSld>
  <p:timing>
    <p:tnLst>
      <p:par>
        <p:cTn id="53" dur="indefinite" restart="never" nodeType="tmRoot">
          <p:childTnLst>
            <p:seq>
              <p:cTn id="5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Shape 1"/>
          <p:cNvSpPr txBox="1"/>
          <p:nvPr/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  <a:ea typeface="AR PL SungtiL GB"/>
              </a:rPr>
              <a:t>in [7], [8] und [9] stimmen die </a:t>
            </a:r>
            <a:r>
              <a:rPr b="0" lang="de-DE" sz="3200" spc="-1" strike="noStrike">
                <a:latin typeface="Arial"/>
              </a:rPr>
              <a:t>angegeben Optima nicht mit den berechneten Optima überein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deswegen wurden die berechneten Optima genutzt, statt den angegeben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somit konnten die Algorithmen die Optima finden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  <a:ea typeface="AR PL SungtiL GB"/>
              </a:rPr>
              <a:t>die berechneten Optima ergaben sich, wenn man die Argumente der angegebenen Optima in die Funktionen in [7], [8] und [9]</a:t>
            </a:r>
            <a:r>
              <a:rPr b="0" lang="de-DE" sz="3200" spc="-1" strike="noStrike">
                <a:latin typeface="Arial"/>
              </a:rPr>
              <a:t> einsetzte</a:t>
            </a:r>
            <a:endParaRPr b="0" lang="de-DE" sz="3200" spc="-1" strike="noStrike">
              <a:latin typeface="Arial"/>
            </a:endParaRPr>
          </a:p>
        </p:txBody>
      </p:sp>
    </p:spTree>
  </p:cSld>
  <p:timing>
    <p:tnLst>
      <p:par>
        <p:cTn id="55" dur="indefinite" restart="never" nodeType="tmRoot">
          <p:childTnLst>
            <p:seq>
              <p:cTn id="5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als Abbruchkriterien für Minimierungsprobleme wurde gesetzt: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|f − f</a:t>
            </a:r>
            <a:r>
              <a:rPr b="0" lang="de-DE" sz="3200" spc="-1" strike="noStrike" baseline="33000">
                <a:latin typeface="Arial"/>
              </a:rPr>
              <a:t>∗</a:t>
            </a:r>
            <a:r>
              <a:rPr b="0" lang="de-DE" sz="3200" spc="-1" strike="noStrike">
                <a:latin typeface="Arial"/>
              </a:rPr>
              <a:t>| &lt; </a:t>
            </a:r>
            <a:r>
              <a:rPr b="0" lang="de-DE" sz="3200" spc="-1" strike="noStrike">
                <a:latin typeface="Arial"/>
                <a:ea typeface="Arial"/>
              </a:rPr>
              <a:t>ε</a:t>
            </a:r>
            <a:r>
              <a:rPr b="0" lang="de-DE" sz="3200" spc="-1" strike="noStrike">
                <a:latin typeface="Arial"/>
                <a:ea typeface="AR PL SungtiL GB"/>
              </a:rPr>
              <a:t>_x000f_, </a:t>
            </a:r>
            <a:r>
              <a:rPr b="0" lang="de-DE" sz="3200" spc="-1" strike="noStrike">
                <a:latin typeface="Arial"/>
                <a:ea typeface="Arial"/>
              </a:rPr>
              <a:t>ε</a:t>
            </a:r>
            <a:r>
              <a:rPr b="0" lang="de-DE" sz="3200" spc="-1" strike="noStrike">
                <a:latin typeface="Arial"/>
              </a:rPr>
              <a:t>_x000f_ = 10</a:t>
            </a:r>
            <a:r>
              <a:rPr b="0" lang="de-DE" sz="3200" spc="-1" strike="noStrike" baseline="33000">
                <a:latin typeface="Arial"/>
              </a:rPr>
              <a:t>−10</a:t>
            </a:r>
            <a:r>
              <a:rPr b="0" lang="de-DE" sz="3200" spc="-1" strike="noStrike">
                <a:latin typeface="Arial"/>
              </a:rPr>
              <a:t>, dabei ist f der momentane Funktionswert und f</a:t>
            </a:r>
            <a:r>
              <a:rPr b="0" lang="de-DE" sz="3200" spc="-1" strike="noStrike" baseline="33000">
                <a:latin typeface="Arial"/>
              </a:rPr>
              <a:t>∗</a:t>
            </a:r>
            <a:r>
              <a:rPr b="0" lang="de-DE" sz="3200" spc="-1" strike="noStrike">
                <a:latin typeface="Arial"/>
              </a:rPr>
              <a:t> das bekannte Optimum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  <a:ea typeface="AR PL SungtiL GB"/>
              </a:rPr>
              <a:t>|f − f</a:t>
            </a:r>
            <a:r>
              <a:rPr b="0" lang="de-DE" sz="3200" spc="-1" strike="noStrike" baseline="33000">
                <a:latin typeface="Arial"/>
                <a:ea typeface="AR PL SungtiL GB"/>
              </a:rPr>
              <a:t>∗</a:t>
            </a:r>
            <a:r>
              <a:rPr b="0" lang="de-DE" sz="3200" spc="-1" strike="noStrike">
                <a:latin typeface="Arial"/>
                <a:ea typeface="AR PL SungtiL GB"/>
              </a:rPr>
              <a:t>| &lt; _x000f_</a:t>
            </a:r>
            <a:r>
              <a:rPr b="0" lang="de-DE" sz="3200" spc="-1" strike="noStrike">
                <a:latin typeface="Arial"/>
                <a:ea typeface="Arial"/>
              </a:rPr>
              <a:t>ε</a:t>
            </a:r>
            <a:r>
              <a:rPr b="0" lang="de-DE" sz="3200" spc="-1" strike="noStrike" baseline="-33000">
                <a:latin typeface="Arial"/>
                <a:ea typeface="AR PL SungtiL GB"/>
              </a:rPr>
              <a:t>1</a:t>
            </a:r>
            <a:r>
              <a:rPr b="0" lang="de-DE" sz="3200" spc="-1" strike="noStrike">
                <a:latin typeface="Arial"/>
                <a:ea typeface="AR PL SungtiL GB"/>
              </a:rPr>
              <a:t>*f</a:t>
            </a:r>
            <a:r>
              <a:rPr b="0" lang="de-DE" sz="3200" spc="-1" strike="noStrike">
                <a:latin typeface="Arial"/>
                <a:ea typeface="AR PL SungtiL GB"/>
              </a:rPr>
              <a:t> + _x000f_</a:t>
            </a:r>
            <a:r>
              <a:rPr b="0" lang="de-DE" sz="3200" spc="-1" strike="noStrike">
                <a:latin typeface="Arial"/>
                <a:ea typeface="Arial"/>
              </a:rPr>
              <a:t>ε</a:t>
            </a:r>
            <a:r>
              <a:rPr b="0" lang="de-DE" sz="3200" spc="-1" strike="noStrike" baseline="-33000">
                <a:latin typeface="Arial"/>
                <a:ea typeface="AR PL SungtiL GB"/>
              </a:rPr>
              <a:t>2</a:t>
            </a:r>
            <a:r>
              <a:rPr b="0" lang="de-DE" sz="3200" spc="-1" strike="noStrike">
                <a:latin typeface="Arial"/>
                <a:ea typeface="AR PL SungtiL GB"/>
              </a:rPr>
              <a:t> , _x000f_</a:t>
            </a:r>
            <a:r>
              <a:rPr b="0" lang="de-DE" sz="3200" spc="-1" strike="noStrike">
                <a:latin typeface="Arial"/>
                <a:ea typeface="Arial"/>
              </a:rPr>
              <a:t>ε</a:t>
            </a:r>
            <a:r>
              <a:rPr b="0" lang="de-DE" sz="3200" spc="-1" strike="noStrike" baseline="-33000">
                <a:latin typeface="Arial"/>
                <a:ea typeface="AR PL SungtiL GB"/>
              </a:rPr>
              <a:t>1</a:t>
            </a:r>
            <a:r>
              <a:rPr b="0" lang="de-DE" sz="3200" spc="-1" strike="noStrike">
                <a:latin typeface="Arial"/>
                <a:ea typeface="AR PL SungtiL GB"/>
              </a:rPr>
              <a:t> = _x000f_</a:t>
            </a:r>
            <a:r>
              <a:rPr b="0" lang="de-DE" sz="3200" spc="-1" strike="noStrike">
                <a:latin typeface="Arial"/>
                <a:ea typeface="Arial"/>
              </a:rPr>
              <a:t>ε</a:t>
            </a:r>
            <a:r>
              <a:rPr b="0" lang="de-DE" sz="3200" spc="-1" strike="noStrike" baseline="-33000">
                <a:latin typeface="Arial"/>
                <a:ea typeface="AR PL SungtiL GB"/>
              </a:rPr>
              <a:t>2</a:t>
            </a:r>
            <a:r>
              <a:rPr b="0" lang="de-DE" sz="3200" spc="-1" strike="noStrike">
                <a:latin typeface="Arial"/>
                <a:ea typeface="AR PL SungtiL GB"/>
              </a:rPr>
              <a:t> = 10</a:t>
            </a:r>
            <a:r>
              <a:rPr b="0" lang="de-DE" sz="3200" spc="-1" strike="noStrike" baseline="33000">
                <a:latin typeface="Arial"/>
                <a:ea typeface="AR PL SungtiL GB"/>
              </a:rPr>
              <a:t>−4</a:t>
            </a:r>
            <a:r>
              <a:rPr b="0" lang="de-DE" sz="3200" spc="-1" strike="noStrike">
                <a:latin typeface="Arial"/>
                <a:ea typeface="AR PL SungtiL GB"/>
              </a:rPr>
              <a:t>, wobei _x000f_</a:t>
            </a:r>
            <a:r>
              <a:rPr b="0" lang="de-DE" sz="3200" spc="-1" strike="noStrike">
                <a:latin typeface="Arial"/>
                <a:ea typeface="Arial"/>
              </a:rPr>
              <a:t>ε</a:t>
            </a:r>
            <a:r>
              <a:rPr b="0" lang="de-DE" sz="3200" spc="-1" strike="noStrike" baseline="-33000">
                <a:latin typeface="Arial"/>
                <a:ea typeface="AR PL SungtiL GB"/>
              </a:rPr>
              <a:t>1</a:t>
            </a:r>
            <a:r>
              <a:rPr b="0" lang="de-DE" sz="3200" spc="-1" strike="noStrike">
                <a:latin typeface="Arial"/>
                <a:ea typeface="AR PL SungtiL GB"/>
              </a:rPr>
              <a:t> der relative Fehler und </a:t>
            </a:r>
            <a:r>
              <a:rPr b="0" lang="de-DE" sz="3200" spc="-1" strike="noStrike">
                <a:latin typeface="Arial"/>
                <a:ea typeface="Arial"/>
              </a:rPr>
              <a:t>ε</a:t>
            </a:r>
            <a:r>
              <a:rPr b="0" lang="de-DE" sz="3200" spc="-1" strike="noStrike" baseline="-33000">
                <a:latin typeface="Arial"/>
                <a:ea typeface="AR PL SungtiL GB"/>
              </a:rPr>
              <a:t>2 </a:t>
            </a:r>
            <a:r>
              <a:rPr b="0" lang="de-DE" sz="3200" spc="-1" strike="noStrike">
                <a:latin typeface="Arial"/>
              </a:rPr>
              <a:t>der absolute Fehler ist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  <a:ea typeface="AR PL SungtiL GB"/>
              </a:rPr>
              <a:t>für Maximi</a:t>
            </a:r>
            <a:r>
              <a:rPr b="0" lang="de-DE" sz="3200" spc="-1" strike="noStrike">
                <a:latin typeface="Arial"/>
              </a:rPr>
              <a:t>erungsprobleme wurde gesetzt: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  <a:ea typeface="AR PL SungtiL GB"/>
              </a:rPr>
              <a:t>f &gt; _x000f_</a:t>
            </a:r>
            <a:r>
              <a:rPr b="0" lang="de-DE" sz="3200" spc="-1" strike="noStrike">
                <a:latin typeface="Arial"/>
                <a:ea typeface="Arial"/>
              </a:rPr>
              <a:t>ε</a:t>
            </a:r>
            <a:r>
              <a:rPr b="0" lang="de-DE" sz="3200" spc="-1" strike="noStrike">
                <a:latin typeface="Arial"/>
                <a:ea typeface="AR PL SungtiL GB"/>
              </a:rPr>
              <a:t>, mit _x000f_</a:t>
            </a:r>
            <a:r>
              <a:rPr b="0" lang="de-DE" sz="3200" spc="-1" strike="noStrike">
                <a:latin typeface="Arial"/>
                <a:ea typeface="Arial"/>
              </a:rPr>
              <a:t>ε</a:t>
            </a:r>
            <a:r>
              <a:rPr b="0" lang="de-DE" sz="3200" spc="-1" strike="noStrike">
                <a:latin typeface="Arial"/>
                <a:ea typeface="AR PL SungtiL GB"/>
              </a:rPr>
              <a:t> = </a:t>
            </a:r>
            <a:r>
              <a:rPr b="0" lang="de-DE" sz="3200" spc="-1" strike="noStrike">
                <a:latin typeface="Arial"/>
              </a:rPr>
              <a:t>10</a:t>
            </a:r>
            <a:r>
              <a:rPr b="0" lang="de-DE" sz="3200" spc="-1" strike="noStrike" baseline="33000">
                <a:latin typeface="Arial"/>
              </a:rPr>
              <a:t>10</a:t>
            </a:r>
            <a:endParaRPr b="0" lang="de-DE" sz="3200" spc="-1" strike="noStrike">
              <a:latin typeface="Arial"/>
            </a:endParaRPr>
          </a:p>
        </p:txBody>
      </p:sp>
    </p:spTree>
  </p:cSld>
  <p:timing>
    <p:tnLst>
      <p:par>
        <p:cTn id="57" dur="indefinite" restart="never" nodeType="tmRoot">
          <p:childTnLst>
            <p:seq>
              <p:cTn id="5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de-DE" sz="4400" spc="-1" strike="noStrike">
                <a:latin typeface="Arial"/>
              </a:rPr>
              <a:t>Einfluss der Parameter</a:t>
            </a:r>
            <a:endParaRPr b="0" lang="de-DE" sz="4400" spc="-1" strike="noStrike">
              <a:latin typeface="Arial"/>
            </a:endParaRPr>
          </a:p>
        </p:txBody>
      </p:sp>
      <p:sp>
        <p:nvSpPr>
          <p:cNvPr id="93" name="TextShape 2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  <a:ea typeface="AR PL SungtiL GB"/>
              </a:rPr>
              <a:t>überprüfen generellen Einfluss der Parameter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  <a:ea typeface="AR PL SungtiL GB"/>
              </a:rPr>
              <a:t>überprüfen, ob Einfluss ähnlich, da ACO</a:t>
            </a:r>
            <a:r>
              <a:rPr b="0" lang="de-DE" sz="3200" spc="-1" strike="noStrike" baseline="-33000">
                <a:latin typeface="Arial"/>
                <a:ea typeface="AR PL SungtiL GB"/>
              </a:rPr>
              <a:t>R</a:t>
            </a:r>
            <a:r>
              <a:rPr b="0" lang="de-DE" sz="3200" spc="-1" strike="noStrike">
                <a:latin typeface="Arial"/>
                <a:ea typeface="AR PL SungtiL GB"/>
              </a:rPr>
              <a:t> eine Funktion aufbaut und ACO</a:t>
            </a:r>
            <a:r>
              <a:rPr b="0" lang="de-DE" sz="3200" spc="-1" strike="noStrike" baseline="-33000">
                <a:latin typeface="Arial"/>
                <a:ea typeface="AR PL SungtiL GB"/>
              </a:rPr>
              <a:t>R</a:t>
            </a:r>
            <a:r>
              <a:rPr b="0" lang="de-DE" sz="3200" spc="-1" strike="noStrike">
                <a:latin typeface="Arial"/>
                <a:ea typeface="AR PL SungtiL GB"/>
              </a:rPr>
              <a:t>-simple und </a:t>
            </a:r>
            <a:r>
              <a:rPr b="0" lang="de-DE" sz="3200" spc="-1" strike="noStrike">
                <a:latin typeface="Arial"/>
              </a:rPr>
              <a:t>ACO</a:t>
            </a:r>
            <a:r>
              <a:rPr b="0" lang="de-DE" sz="3200" spc="-1" strike="noStrike" baseline="-33000">
                <a:latin typeface="Arial"/>
              </a:rPr>
              <a:t>R</a:t>
            </a:r>
            <a:r>
              <a:rPr b="0" lang="de-DE" sz="3200" spc="-1" strike="noStrike">
                <a:latin typeface="Arial"/>
              </a:rPr>
              <a:t>-very-simple nur ein Intervall auswerten, somit sich stark unterscheiden</a:t>
            </a:r>
            <a:endParaRPr b="0" lang="de-DE" sz="3200" spc="-1" strike="noStrike">
              <a:latin typeface="Arial"/>
            </a:endParaRPr>
          </a:p>
        </p:txBody>
      </p:sp>
    </p:spTree>
  </p:cSld>
  <p:timing>
    <p:tnLst>
      <p:par>
        <p:cTn id="59" dur="indefinite" restart="never" nodeType="tmRoot">
          <p:childTnLst>
            <p:seq>
              <p:cTn id="6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de-DE" sz="4400" spc="-1" strike="noStrike">
                <a:latin typeface="Arial"/>
              </a:rPr>
              <a:t>Einfluss der Anzahl der Ameisen</a:t>
            </a:r>
            <a:endParaRPr b="0" lang="de-DE" sz="4400" spc="-1" strike="noStrike">
              <a:latin typeface="Arial"/>
            </a:endParaRPr>
          </a:p>
        </p:txBody>
      </p:sp>
      <p:sp>
        <p:nvSpPr>
          <p:cNvPr id="95" name="TextShape 2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Ameisenalgorithmen arbeiten normalerweise mit min. 2 Ameisen</a:t>
            </a:r>
            <a:endParaRPr b="0" lang="de-DE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ACO</a:t>
            </a:r>
            <a:r>
              <a:rPr b="0" lang="de-DE" sz="3200" spc="-1" strike="noStrike" baseline="-33000">
                <a:latin typeface="Arial"/>
              </a:rPr>
              <a:t>R</a:t>
            </a:r>
            <a:r>
              <a:rPr b="0" lang="de-DE" sz="3200" spc="-1" strike="noStrike">
                <a:latin typeface="Arial"/>
              </a:rPr>
              <a:t>-simple und ACO</a:t>
            </a:r>
            <a:r>
              <a:rPr b="0" lang="de-DE" sz="3200" spc="-1" strike="noStrike" baseline="-33000">
                <a:latin typeface="Arial"/>
              </a:rPr>
              <a:t>R</a:t>
            </a:r>
            <a:r>
              <a:rPr b="0" lang="de-DE" sz="3200" spc="-1" strike="noStrike">
                <a:latin typeface="Arial"/>
              </a:rPr>
              <a:t>-very-simple arbeiten am besten mit nur einer einzigen Ameise</a:t>
            </a:r>
            <a:endParaRPr b="0" lang="de-DE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  <a:ea typeface="AR PL SungtiL GB"/>
              </a:rPr>
              <a:t>Kein Vergleich mit </a:t>
            </a:r>
            <a:r>
              <a:rPr b="0" lang="de-DE" sz="3200" spc="-1" strike="noStrike">
                <a:latin typeface="Arial"/>
              </a:rPr>
              <a:t>ACO</a:t>
            </a:r>
            <a:r>
              <a:rPr b="0" lang="de-DE" sz="3200" spc="-1" strike="noStrike" baseline="-33000">
                <a:latin typeface="Arial"/>
              </a:rPr>
              <a:t>R</a:t>
            </a:r>
            <a:r>
              <a:rPr b="0" lang="de-DE" sz="3200" spc="-1" strike="noStrike">
                <a:latin typeface="Arial"/>
              </a:rPr>
              <a:t> möglich, da Anzahl der Ameisen dort kein Parameter</a:t>
            </a:r>
            <a:endParaRPr b="0" lang="de-DE" sz="3200" spc="-1" strike="noStrike">
              <a:latin typeface="Arial"/>
            </a:endParaRPr>
          </a:p>
        </p:txBody>
      </p:sp>
    </p:spTree>
  </p:cSld>
  <p:timing>
    <p:tnLst>
      <p:par>
        <p:cTn id="61" dur="indefinite" restart="never" nodeType="tmRoot">
          <p:childTnLst>
            <p:seq>
              <p:cTn id="6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Shape 1"/>
          <p:cNvSpPr txBox="1"/>
          <p:nvPr/>
        </p:nvSpPr>
        <p:spPr>
          <a:xfrm>
            <a:off x="479160" y="31824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latin typeface="Arial"/>
                <a:ea typeface="AR PL SungtiL GB"/>
              </a:rPr>
              <a:t>Ellipsoid, links: </a:t>
            </a:r>
            <a:r>
              <a:rPr b="0" lang="de-DE" sz="2800" spc="-1" strike="noStrike">
                <a:latin typeface="Arial"/>
              </a:rPr>
              <a:t>ACO</a:t>
            </a:r>
            <a:r>
              <a:rPr b="0" lang="de-DE" sz="2800" spc="-1" strike="noStrike" baseline="-33000">
                <a:latin typeface="Arial"/>
              </a:rPr>
              <a:t>R</a:t>
            </a:r>
            <a:r>
              <a:rPr b="0" lang="de-DE" sz="2800" spc="-1" strike="noStrike">
                <a:latin typeface="Arial"/>
              </a:rPr>
              <a:t>-simple, rechts: ACO</a:t>
            </a:r>
            <a:r>
              <a:rPr b="0" lang="de-DE" sz="2800" spc="-1" strike="noStrike" baseline="-33000">
                <a:latin typeface="Arial"/>
              </a:rPr>
              <a:t>R</a:t>
            </a:r>
            <a:r>
              <a:rPr b="0" lang="de-DE" sz="2800" spc="-1" strike="noStrike">
                <a:latin typeface="Arial"/>
              </a:rPr>
              <a:t> -very-simple</a:t>
            </a:r>
            <a:r>
              <a:rPr b="0" lang="de-DE" sz="3200" spc="-1" strike="noStrike">
                <a:latin typeface="Arial"/>
              </a:rPr>
              <a:t> 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3200" spc="-1" strike="noStrike">
              <a:latin typeface="Arial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4868640" y="1134720"/>
            <a:ext cx="4891680" cy="3668760"/>
          </a:xfrm>
          <a:prstGeom prst="rect">
            <a:avLst/>
          </a:prstGeom>
          <a:ln>
            <a:noFill/>
          </a:ln>
        </p:spPr>
      </p:pic>
      <p:pic>
        <p:nvPicPr>
          <p:cNvPr id="98" name="" descr=""/>
          <p:cNvPicPr/>
          <p:nvPr/>
        </p:nvPicPr>
        <p:blipFill>
          <a:blip r:embed="rId2"/>
          <a:stretch/>
        </p:blipFill>
        <p:spPr>
          <a:xfrm>
            <a:off x="84240" y="1151640"/>
            <a:ext cx="4968000" cy="3726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63" dur="indefinite" restart="never" nodeType="tmRoot">
          <p:childTnLst>
            <p:seq>
              <p:cTn id="6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Shape 1"/>
          <p:cNvSpPr txBox="1"/>
          <p:nvPr/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latin typeface="Arial"/>
                <a:ea typeface="AR PL SungtiL GB"/>
              </a:rPr>
              <a:t>Cigar, links: </a:t>
            </a:r>
            <a:r>
              <a:rPr b="0" lang="de-DE" sz="2800" spc="-1" strike="noStrike">
                <a:latin typeface="Arial"/>
              </a:rPr>
              <a:t>ACO</a:t>
            </a:r>
            <a:r>
              <a:rPr b="0" lang="de-DE" sz="2800" spc="-1" strike="noStrike" baseline="-33000">
                <a:latin typeface="Arial"/>
              </a:rPr>
              <a:t>R</a:t>
            </a:r>
            <a:r>
              <a:rPr b="0" lang="de-DE" sz="2800" spc="-1" strike="noStrike">
                <a:latin typeface="Arial"/>
              </a:rPr>
              <a:t>-simple, rechts: ACO</a:t>
            </a:r>
            <a:r>
              <a:rPr b="0" lang="de-DE" sz="2800" spc="-1" strike="noStrike" baseline="-33000">
                <a:latin typeface="Arial"/>
              </a:rPr>
              <a:t>R</a:t>
            </a:r>
            <a:r>
              <a:rPr b="0" lang="de-DE" sz="2800" spc="-1" strike="noStrike">
                <a:latin typeface="Arial"/>
              </a:rPr>
              <a:t> -very-simple</a:t>
            </a: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147960" y="980280"/>
            <a:ext cx="5098680" cy="3823920"/>
          </a:xfrm>
          <a:prstGeom prst="rect">
            <a:avLst/>
          </a:prstGeom>
          <a:ln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4832280" y="1013760"/>
            <a:ext cx="5054400" cy="37908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65" dur="indefinite" restart="never" nodeType="tmRoot">
          <p:childTnLst>
            <p:seq>
              <p:cTn id="6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Shape 1"/>
          <p:cNvSpPr txBox="1"/>
          <p:nvPr/>
        </p:nvSpPr>
        <p:spPr>
          <a:xfrm>
            <a:off x="504000" y="197280"/>
            <a:ext cx="9071640" cy="444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latin typeface="Arial"/>
                <a:ea typeface="AR PL SungtiL GB"/>
              </a:rPr>
              <a:t>Paraboloid, links: </a:t>
            </a:r>
            <a:r>
              <a:rPr b="0" lang="de-DE" sz="2800" spc="-1" strike="noStrike">
                <a:latin typeface="Arial"/>
              </a:rPr>
              <a:t>ACO</a:t>
            </a:r>
            <a:r>
              <a:rPr b="0" lang="de-DE" sz="2800" spc="-1" strike="noStrike" baseline="-33000">
                <a:latin typeface="Arial"/>
              </a:rPr>
              <a:t>R</a:t>
            </a:r>
            <a:r>
              <a:rPr b="0" lang="de-DE" sz="2800" spc="-1" strike="noStrike">
                <a:latin typeface="Arial"/>
              </a:rPr>
              <a:t>-simple, rechts: ACO</a:t>
            </a:r>
            <a:r>
              <a:rPr b="0" lang="de-DE" sz="2800" spc="-1" strike="noStrike" baseline="-33000">
                <a:latin typeface="Arial"/>
              </a:rPr>
              <a:t>R</a:t>
            </a:r>
            <a:r>
              <a:rPr b="0" lang="de-DE" sz="2800" spc="-1" strike="noStrike">
                <a:latin typeface="Arial"/>
              </a:rPr>
              <a:t> -very-</a:t>
            </a:r>
            <a:r>
              <a:rPr b="0" lang="de-DE" sz="2800" spc="-1" strike="noStrike">
                <a:latin typeface="Arial"/>
              </a:rPr>
              <a:t>simple</a:t>
            </a: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</p:txBody>
      </p:sp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457560" y="1181160"/>
            <a:ext cx="4753080" cy="3564720"/>
          </a:xfrm>
          <a:prstGeom prst="rect">
            <a:avLst/>
          </a:prstGeom>
          <a:ln>
            <a:noFill/>
          </a:ln>
        </p:spPr>
      </p:pic>
      <p:pic>
        <p:nvPicPr>
          <p:cNvPr id="104" name="" descr=""/>
          <p:cNvPicPr/>
          <p:nvPr/>
        </p:nvPicPr>
        <p:blipFill>
          <a:blip r:embed="rId2"/>
          <a:stretch/>
        </p:blipFill>
        <p:spPr>
          <a:xfrm>
            <a:off x="4921200" y="1146960"/>
            <a:ext cx="4847400" cy="36356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67" dur="indefinite" restart="never" nodeType="tmRoot">
          <p:childTnLst>
            <p:seq>
              <p:cTn id="6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504000" y="197280"/>
            <a:ext cx="9071640" cy="444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latin typeface="Arial"/>
                <a:ea typeface="AR PL SungtiL GB"/>
              </a:rPr>
              <a:t>Tablet, links: </a:t>
            </a:r>
            <a:r>
              <a:rPr b="0" lang="de-DE" sz="2800" spc="-1" strike="noStrike">
                <a:latin typeface="Arial"/>
              </a:rPr>
              <a:t>ACO</a:t>
            </a:r>
            <a:r>
              <a:rPr b="0" lang="de-DE" sz="2800" spc="-1" strike="noStrike" baseline="-33000">
                <a:latin typeface="Arial"/>
              </a:rPr>
              <a:t>R</a:t>
            </a:r>
            <a:r>
              <a:rPr b="0" lang="de-DE" sz="2800" spc="-1" strike="noStrike">
                <a:latin typeface="Arial"/>
              </a:rPr>
              <a:t>-simple, rechts: ACO</a:t>
            </a:r>
            <a:r>
              <a:rPr b="0" lang="de-DE" sz="2800" spc="-1" strike="noStrike" baseline="-33000">
                <a:latin typeface="Arial"/>
              </a:rPr>
              <a:t>R</a:t>
            </a:r>
            <a:r>
              <a:rPr b="0" lang="de-DE" sz="2800" spc="-1" strike="noStrike">
                <a:latin typeface="Arial"/>
              </a:rPr>
              <a:t> -very-simple</a:t>
            </a: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257040" y="821520"/>
            <a:ext cx="4887360" cy="3665520"/>
          </a:xfrm>
          <a:prstGeom prst="rect">
            <a:avLst/>
          </a:prstGeom>
          <a:ln>
            <a:noFill/>
          </a:ln>
        </p:spPr>
      </p:pic>
      <p:pic>
        <p:nvPicPr>
          <p:cNvPr id="107" name="" descr=""/>
          <p:cNvPicPr/>
          <p:nvPr/>
        </p:nvPicPr>
        <p:blipFill>
          <a:blip r:embed="rId2"/>
          <a:stretch/>
        </p:blipFill>
        <p:spPr>
          <a:xfrm>
            <a:off x="4971240" y="813960"/>
            <a:ext cx="4856040" cy="36421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69" dur="indefinite" restart="never" nodeType="tmRoot">
          <p:childTnLst>
            <p:seq>
              <p:cTn id="7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de-DE" sz="4400" spc="-1" strike="noStrike">
                <a:latin typeface="Arial"/>
              </a:rPr>
              <a:t>Einfluss des Parameters q</a:t>
            </a:r>
            <a:endParaRPr b="0" lang="de-DE" sz="4400" spc="-1" strike="noStrike">
              <a:latin typeface="Arial"/>
            </a:endParaRPr>
          </a:p>
        </p:txBody>
      </p:sp>
      <p:sp>
        <p:nvSpPr>
          <p:cNvPr id="109" name="TextShape 2"/>
          <p:cNvSpPr txBox="1"/>
          <p:nvPr/>
        </p:nvSpPr>
        <p:spPr>
          <a:xfrm>
            <a:off x="504000" y="1214280"/>
            <a:ext cx="9071640" cy="3513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latin typeface="Arial"/>
              </a:rPr>
              <a:t>je kleiner q, desto mehr werden die besseren Lösungen zum Generieren neuer Lösungen bevorzugt, desto schneller konvergiert ACO</a:t>
            </a:r>
            <a:r>
              <a:rPr b="0" lang="de-DE" sz="2800" spc="-1" strike="noStrike" baseline="-33000">
                <a:latin typeface="Arial"/>
              </a:rPr>
              <a:t>R</a:t>
            </a:r>
            <a:r>
              <a:rPr b="0" lang="de-DE" sz="2800" spc="-1" strike="noStrike">
                <a:latin typeface="Arial"/>
              </a:rPr>
              <a:t>-smiple</a:t>
            </a: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latin typeface="Arial"/>
              </a:rPr>
              <a:t>ACO</a:t>
            </a:r>
            <a:r>
              <a:rPr b="0" lang="de-DE" sz="2800" spc="-1" strike="noStrike" baseline="-33000">
                <a:latin typeface="Arial"/>
              </a:rPr>
              <a:t>R</a:t>
            </a:r>
            <a:r>
              <a:rPr b="0" lang="de-DE" sz="2800" spc="-1" strike="noStrike">
                <a:latin typeface="Arial"/>
              </a:rPr>
              <a:t>-very-smiple hat kein q, kann aber betrachtet werden, als hätte der Algorithmus ein sehr kleines</a:t>
            </a: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latin typeface="Arial"/>
              </a:rPr>
              <a:t>ACO</a:t>
            </a:r>
            <a:r>
              <a:rPr b="0" lang="de-DE" sz="2800" spc="-1" strike="noStrike" baseline="-33000">
                <a:latin typeface="Arial"/>
              </a:rPr>
              <a:t>R</a:t>
            </a:r>
            <a:r>
              <a:rPr b="0" lang="de-DE" sz="2800" spc="-1" strike="noStrike">
                <a:latin typeface="Arial"/>
              </a:rPr>
              <a:t>-very-smiple konvergert sehr schnell, wie erwart</a:t>
            </a: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latin typeface="Arial"/>
              </a:rPr>
              <a:t>beide Algorithmen sind in ihrem Verhalten bzgl. des Parameters q ähnlich zu ACO</a:t>
            </a:r>
            <a:r>
              <a:rPr b="0" lang="de-DE" sz="2800" spc="-1" strike="noStrike" baseline="-33000">
                <a:latin typeface="Arial"/>
              </a:rPr>
              <a:t>R</a:t>
            </a:r>
            <a:endParaRPr b="0" lang="de-DE" sz="2800" spc="-1" strike="noStrike">
              <a:latin typeface="Arial"/>
            </a:endParaRPr>
          </a:p>
        </p:txBody>
      </p:sp>
    </p:spTree>
  </p:cSld>
  <p:timing>
    <p:tnLst>
      <p:par>
        <p:cTn id="71" dur="indefinite" restart="never" nodeType="tmRoot">
          <p:childTnLst>
            <p:seq>
              <p:cTn id="7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Shape 1"/>
          <p:cNvSpPr txBox="1"/>
          <p:nvPr/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latin typeface="Arial"/>
                <a:ea typeface="AR PL SungtiL GB"/>
              </a:rPr>
              <a:t>Ellipsoid</a:t>
            </a: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</p:txBody>
      </p:sp>
      <p:pic>
        <p:nvPicPr>
          <p:cNvPr id="111" name="" descr=""/>
          <p:cNvPicPr/>
          <p:nvPr/>
        </p:nvPicPr>
        <p:blipFill>
          <a:blip r:embed="rId1"/>
          <a:stretch/>
        </p:blipFill>
        <p:spPr>
          <a:xfrm>
            <a:off x="2270520" y="702720"/>
            <a:ext cx="5851800" cy="43887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73" dur="indefinite" restart="never" nodeType="tmRoot">
          <p:childTnLst>
            <p:seq>
              <p:cTn id="7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Shape 1"/>
          <p:cNvSpPr txBox="1"/>
          <p:nvPr/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latin typeface="Arial"/>
                <a:ea typeface="AR PL SungtiL GB"/>
              </a:rPr>
              <a:t>Cigar</a:t>
            </a:r>
            <a:endParaRPr b="0" lang="de-DE" sz="2800" spc="-1" strike="noStrike"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</p:txBody>
      </p:sp>
      <p:pic>
        <p:nvPicPr>
          <p:cNvPr id="113" name="" descr=""/>
          <p:cNvPicPr/>
          <p:nvPr/>
        </p:nvPicPr>
        <p:blipFill>
          <a:blip r:embed="rId1"/>
          <a:stretch/>
        </p:blipFill>
        <p:spPr>
          <a:xfrm>
            <a:off x="2120400" y="646200"/>
            <a:ext cx="5851800" cy="43887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75" dur="indefinite" restart="never" nodeType="tmRoot">
          <p:childTnLst>
            <p:seq>
              <p:cTn id="7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Shape 1"/>
          <p:cNvSpPr txBox="1"/>
          <p:nvPr/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latin typeface="Arial"/>
                <a:ea typeface="AR PL SungtiL GB"/>
              </a:rPr>
              <a:t>Paraboloid</a:t>
            </a:r>
            <a:endParaRPr b="0" lang="de-DE" sz="2800" spc="-1" strike="noStrike"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</p:txBody>
      </p:sp>
      <p:pic>
        <p:nvPicPr>
          <p:cNvPr id="115" name="" descr=""/>
          <p:cNvPicPr/>
          <p:nvPr/>
        </p:nvPicPr>
        <p:blipFill>
          <a:blip r:embed="rId1"/>
          <a:stretch/>
        </p:blipFill>
        <p:spPr>
          <a:xfrm>
            <a:off x="2120400" y="646200"/>
            <a:ext cx="5851800" cy="43887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77" dur="indefinite" restart="never" nodeType="tmRoot">
          <p:childTnLst>
            <p:seq>
              <p:cTn id="7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Shape 1"/>
          <p:cNvSpPr txBox="1"/>
          <p:nvPr/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latin typeface="Arial"/>
                <a:ea typeface="AR PL SungtiL GB"/>
              </a:rPr>
              <a:t>Tablet</a:t>
            </a:r>
            <a:endParaRPr b="0" lang="de-DE" sz="2800" spc="-1" strike="noStrike"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</p:txBody>
      </p:sp>
      <p:pic>
        <p:nvPicPr>
          <p:cNvPr id="117" name="" descr=""/>
          <p:cNvPicPr/>
          <p:nvPr/>
        </p:nvPicPr>
        <p:blipFill>
          <a:blip r:embed="rId1"/>
          <a:stretch/>
        </p:blipFill>
        <p:spPr>
          <a:xfrm>
            <a:off x="2120400" y="646200"/>
            <a:ext cx="5851800" cy="43887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79" dur="indefinite" restart="never" nodeType="tmRoot">
          <p:childTnLst>
            <p:seq>
              <p:cTn id="8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de-DE" sz="4400" spc="-1" strike="noStrike">
                <a:latin typeface="Arial"/>
              </a:rPr>
              <a:t>Einfluss des Parameters k</a:t>
            </a:r>
            <a:endParaRPr b="0" lang="de-DE" sz="4400" spc="-1" strike="noStrike">
              <a:latin typeface="Arial"/>
            </a:endParaRPr>
          </a:p>
        </p:txBody>
      </p:sp>
      <p:sp>
        <p:nvSpPr>
          <p:cNvPr id="119" name="TextShape 2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wie erwartet, funktionieren ACO</a:t>
            </a:r>
            <a:r>
              <a:rPr b="0" lang="de-DE" sz="3200" spc="-1" strike="noStrike" baseline="-33000">
                <a:latin typeface="Arial"/>
              </a:rPr>
              <a:t>R</a:t>
            </a:r>
            <a:r>
              <a:rPr b="0" lang="de-DE" sz="3200" spc="-1" strike="noStrike">
                <a:latin typeface="Arial"/>
              </a:rPr>
              <a:t>-simple und ACO</a:t>
            </a:r>
            <a:r>
              <a:rPr b="0" lang="de-DE" sz="3200" spc="-1" strike="noStrike" baseline="-33000">
                <a:latin typeface="Arial"/>
              </a:rPr>
              <a:t>R</a:t>
            </a:r>
            <a:r>
              <a:rPr b="0" lang="de-DE" sz="3200" spc="-1" strike="noStrike">
                <a:latin typeface="Arial"/>
              </a:rPr>
              <a:t>-very-simple, mit größeren k besser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  <a:ea typeface="AR PL SungtiL GB"/>
              </a:rPr>
              <a:t>Kein Vergleich mit </a:t>
            </a:r>
            <a:r>
              <a:rPr b="0" lang="de-DE" sz="3200" spc="-1" strike="noStrike">
                <a:latin typeface="Arial"/>
              </a:rPr>
              <a:t>ACO</a:t>
            </a:r>
            <a:r>
              <a:rPr b="0" lang="de-DE" sz="3200" spc="-1" strike="noStrike" baseline="-33000">
                <a:latin typeface="Arial"/>
              </a:rPr>
              <a:t>R</a:t>
            </a:r>
            <a:r>
              <a:rPr b="0" lang="de-DE" sz="3200" spc="-1" strike="noStrike">
                <a:latin typeface="Arial"/>
              </a:rPr>
              <a:t> möglich, da k dort kein Parameter</a:t>
            </a:r>
            <a:endParaRPr b="0" lang="de-DE" sz="3200" spc="-1" strike="noStrike">
              <a:latin typeface="Arial"/>
            </a:endParaRPr>
          </a:p>
        </p:txBody>
      </p:sp>
    </p:spTree>
  </p:cSld>
  <p:timing>
    <p:tnLst>
      <p:par>
        <p:cTn id="81" dur="indefinite" restart="never" nodeType="tmRoot">
          <p:childTnLst>
            <p:seq>
              <p:cTn id="8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de-DE" sz="4400" spc="-1" strike="noStrike">
                <a:latin typeface="Arial"/>
              </a:rPr>
              <a:t>Einfluss des Parameters ξ</a:t>
            </a:r>
            <a:endParaRPr b="0" lang="de-DE" sz="4400" spc="-1" strike="noStrike">
              <a:latin typeface="Arial"/>
            </a:endParaRPr>
          </a:p>
        </p:txBody>
      </p:sp>
      <p:sp>
        <p:nvSpPr>
          <p:cNvPr id="121" name="TextShape 2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  <a:ea typeface="AR PL SungtiL GB"/>
              </a:rPr>
              <a:t>bei kleinerem </a:t>
            </a:r>
            <a:r>
              <a:rPr b="0" lang="de-DE" sz="3200" spc="-1" strike="noStrike">
                <a:latin typeface="Arial"/>
              </a:rPr>
              <a:t>ξ konvergieren die Algorithmen nicht, außer bei der Tesfunktion „Ellipsoid“</a:t>
            </a:r>
            <a:endParaRPr b="0" lang="de-DE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je größer ξ, desto langsamer konvergieren die Algorithmen</a:t>
            </a:r>
            <a:endParaRPr b="0" lang="de-DE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  <a:ea typeface="AR PL SungtiL GB"/>
              </a:rPr>
              <a:t>in ACO</a:t>
            </a:r>
            <a:r>
              <a:rPr b="0" lang="de-DE" sz="3200" spc="-1" strike="noStrike" baseline="-33000">
                <a:latin typeface="Arial"/>
                <a:ea typeface="AR PL SungtiL GB"/>
              </a:rPr>
              <a:t>R</a:t>
            </a:r>
            <a:r>
              <a:rPr b="0" lang="de-DE" sz="3200" spc="-1" strike="noStrike">
                <a:latin typeface="Arial"/>
                <a:ea typeface="AR PL SungtiL GB"/>
              </a:rPr>
              <a:t>-simple und ACO</a:t>
            </a:r>
            <a:r>
              <a:rPr b="0" lang="de-DE" sz="3200" spc="-1" strike="noStrike" baseline="-33000">
                <a:latin typeface="Arial"/>
                <a:ea typeface="AR PL SungtiL GB"/>
              </a:rPr>
              <a:t>R</a:t>
            </a:r>
            <a:r>
              <a:rPr b="0" lang="de-DE" sz="3200" spc="-1" strike="noStrike">
                <a:latin typeface="Arial"/>
                <a:ea typeface="AR PL SungtiL GB"/>
              </a:rPr>
              <a:t>-very-simple vergrößert ξ das Suchintervall direkt, wodurch es einen noch stärkeren Einfluss auf die Konvergenz des Algorithmus hat als in </a:t>
            </a:r>
            <a:r>
              <a:rPr b="0" lang="de-DE" sz="3200" spc="-1" strike="noStrike">
                <a:latin typeface="Arial"/>
              </a:rPr>
              <a:t>ACO</a:t>
            </a:r>
            <a:r>
              <a:rPr b="0" lang="de-DE" sz="3200" spc="-1" strike="noStrike" baseline="-33000">
                <a:latin typeface="Arial"/>
              </a:rPr>
              <a:t>R</a:t>
            </a:r>
            <a:endParaRPr b="0" lang="de-DE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  <a:ea typeface="AR PL SungtiL GB"/>
              </a:rPr>
              <a:t>beide Algorithmen sind in ihrem Verhalten bzgl. des Parameters ξ</a:t>
            </a:r>
            <a:r>
              <a:rPr b="0" lang="de-DE" sz="3200" spc="-1" strike="noStrike">
                <a:latin typeface="Arial"/>
              </a:rPr>
              <a:t> ähnlich zu ACO</a:t>
            </a:r>
            <a:r>
              <a:rPr b="0" lang="de-DE" sz="3200" spc="-1" strike="noStrike" baseline="-33000">
                <a:latin typeface="Arial"/>
              </a:rPr>
              <a:t>R</a:t>
            </a:r>
            <a:endParaRPr b="0" lang="de-DE" sz="3200" spc="-1" strike="noStrike">
              <a:latin typeface="Arial"/>
            </a:endParaRPr>
          </a:p>
        </p:txBody>
      </p:sp>
    </p:spTree>
  </p:cSld>
  <p:timing>
    <p:tnLst>
      <p:par>
        <p:cTn id="83" dur="indefinite" restart="never" nodeType="tmRoot">
          <p:childTnLst>
            <p:seq>
              <p:cTn id="8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Shape 1"/>
          <p:cNvSpPr txBox="1"/>
          <p:nvPr/>
        </p:nvSpPr>
        <p:spPr>
          <a:xfrm>
            <a:off x="504000" y="104760"/>
            <a:ext cx="9071640" cy="463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latin typeface="Arial"/>
                <a:ea typeface="AR PL SungtiL GB"/>
              </a:rPr>
              <a:t>Ellipsoid, links: </a:t>
            </a:r>
            <a:r>
              <a:rPr b="0" lang="de-DE" sz="2800" spc="-1" strike="noStrike">
                <a:latin typeface="Arial"/>
              </a:rPr>
              <a:t>ACO</a:t>
            </a:r>
            <a:r>
              <a:rPr b="0" lang="de-DE" sz="2800" spc="-1" strike="noStrike" baseline="-33000">
                <a:latin typeface="Arial"/>
              </a:rPr>
              <a:t>R</a:t>
            </a:r>
            <a:r>
              <a:rPr b="0" lang="de-DE" sz="2800" spc="-1" strike="noStrike">
                <a:latin typeface="Arial"/>
              </a:rPr>
              <a:t>-simple, rechts: ACO</a:t>
            </a:r>
            <a:r>
              <a:rPr b="0" lang="de-DE" sz="2800" spc="-1" strike="noStrike" baseline="-33000">
                <a:latin typeface="Arial"/>
              </a:rPr>
              <a:t>R</a:t>
            </a:r>
            <a:r>
              <a:rPr b="0" lang="de-DE" sz="2800" spc="-1" strike="noStrike">
                <a:latin typeface="Arial"/>
              </a:rPr>
              <a:t> -very-simple</a:t>
            </a:r>
            <a:r>
              <a:rPr b="0" lang="de-DE" sz="3200" spc="-1" strike="noStrike">
                <a:latin typeface="Arial"/>
              </a:rPr>
              <a:t> </a:t>
            </a: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3200" spc="-1" strike="noStrike">
              <a:latin typeface="Arial"/>
            </a:endParaRPr>
          </a:p>
          <a:p>
            <a:pPr algn="ctr"/>
            <a:endParaRPr b="0" lang="de-DE" sz="3200" spc="-1" strike="noStrike">
              <a:latin typeface="Arial"/>
            </a:endParaRPr>
          </a:p>
        </p:txBody>
      </p:sp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56880" y="763200"/>
            <a:ext cx="4998960" cy="3749040"/>
          </a:xfrm>
          <a:prstGeom prst="rect">
            <a:avLst/>
          </a:prstGeom>
          <a:ln>
            <a:noFill/>
          </a:ln>
        </p:spPr>
      </p:pic>
      <p:pic>
        <p:nvPicPr>
          <p:cNvPr id="124" name="" descr=""/>
          <p:cNvPicPr/>
          <p:nvPr/>
        </p:nvPicPr>
        <p:blipFill>
          <a:blip r:embed="rId2"/>
          <a:stretch/>
        </p:blipFill>
        <p:spPr>
          <a:xfrm>
            <a:off x="4804200" y="721440"/>
            <a:ext cx="5089680" cy="38170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85" dur="indefinite" restart="never" nodeType="tmRoot">
          <p:childTnLst>
            <p:seq>
              <p:cTn id="8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Shape 1"/>
          <p:cNvSpPr txBox="1"/>
          <p:nvPr/>
        </p:nvSpPr>
        <p:spPr>
          <a:xfrm>
            <a:off x="504000" y="197280"/>
            <a:ext cx="9071640" cy="444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latin typeface="Arial"/>
                <a:ea typeface="AR PL SungtiL GB"/>
              </a:rPr>
              <a:t>Cigar, links: </a:t>
            </a:r>
            <a:r>
              <a:rPr b="0" lang="de-DE" sz="2800" spc="-1" strike="noStrike">
                <a:latin typeface="Arial"/>
              </a:rPr>
              <a:t>ACO</a:t>
            </a:r>
            <a:r>
              <a:rPr b="0" lang="de-DE" sz="2800" spc="-1" strike="noStrike" baseline="-33000">
                <a:latin typeface="Arial"/>
              </a:rPr>
              <a:t>R</a:t>
            </a:r>
            <a:r>
              <a:rPr b="0" lang="de-DE" sz="2800" spc="-1" strike="noStrike">
                <a:latin typeface="Arial"/>
              </a:rPr>
              <a:t>-simple, rechts: ACO</a:t>
            </a:r>
            <a:r>
              <a:rPr b="0" lang="de-DE" sz="2800" spc="-1" strike="noStrike" baseline="-33000">
                <a:latin typeface="Arial"/>
              </a:rPr>
              <a:t>R</a:t>
            </a:r>
            <a:r>
              <a:rPr b="0" lang="de-DE" sz="2800" spc="-1" strike="noStrike">
                <a:latin typeface="Arial"/>
              </a:rPr>
              <a:t> -very-simple</a:t>
            </a: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281880" y="804960"/>
            <a:ext cx="5042880" cy="3782160"/>
          </a:xfrm>
          <a:prstGeom prst="rect">
            <a:avLst/>
          </a:prstGeom>
          <a:ln>
            <a:noFill/>
          </a:ln>
        </p:spPr>
      </p:pic>
      <p:pic>
        <p:nvPicPr>
          <p:cNvPr id="127" name="" descr=""/>
          <p:cNvPicPr/>
          <p:nvPr/>
        </p:nvPicPr>
        <p:blipFill>
          <a:blip r:embed="rId2"/>
          <a:stretch/>
        </p:blipFill>
        <p:spPr>
          <a:xfrm>
            <a:off x="4878720" y="788400"/>
            <a:ext cx="4998240" cy="37486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87" dur="indefinite" restart="never" nodeType="tmRoot">
          <p:childTnLst>
            <p:seq>
              <p:cTn id="8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Shape 1"/>
          <p:cNvSpPr txBox="1"/>
          <p:nvPr/>
        </p:nvSpPr>
        <p:spPr>
          <a:xfrm>
            <a:off x="504000" y="197280"/>
            <a:ext cx="9071640" cy="444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latin typeface="Arial"/>
                <a:ea typeface="AR PL SungtiL GB"/>
              </a:rPr>
              <a:t>Paraboloid, links: </a:t>
            </a:r>
            <a:r>
              <a:rPr b="0" lang="de-DE" sz="2800" spc="-1" strike="noStrike">
                <a:latin typeface="Arial"/>
              </a:rPr>
              <a:t>ACO</a:t>
            </a:r>
            <a:r>
              <a:rPr b="0" lang="de-DE" sz="2800" spc="-1" strike="noStrike" baseline="-33000">
                <a:latin typeface="Arial"/>
              </a:rPr>
              <a:t>R</a:t>
            </a:r>
            <a:r>
              <a:rPr b="0" lang="de-DE" sz="2800" spc="-1" strike="noStrike">
                <a:latin typeface="Arial"/>
              </a:rPr>
              <a:t>-simple, rechts: ACO</a:t>
            </a:r>
            <a:r>
              <a:rPr b="0" lang="de-DE" sz="2800" spc="-1" strike="noStrike" baseline="-33000">
                <a:latin typeface="Arial"/>
              </a:rPr>
              <a:t>R</a:t>
            </a:r>
            <a:r>
              <a:rPr b="0" lang="de-DE" sz="2800" spc="-1" strike="noStrike">
                <a:latin typeface="Arial"/>
              </a:rPr>
              <a:t> -very-simple</a:t>
            </a: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</p:txBody>
      </p:sp>
      <p:pic>
        <p:nvPicPr>
          <p:cNvPr id="129" name="" descr=""/>
          <p:cNvPicPr/>
          <p:nvPr/>
        </p:nvPicPr>
        <p:blipFill>
          <a:blip r:embed="rId1"/>
          <a:stretch/>
        </p:blipFill>
        <p:spPr>
          <a:xfrm>
            <a:off x="132120" y="1080720"/>
            <a:ext cx="4474800" cy="3355920"/>
          </a:xfrm>
          <a:prstGeom prst="rect">
            <a:avLst/>
          </a:prstGeom>
          <a:ln>
            <a:noFill/>
          </a:ln>
        </p:spPr>
      </p:pic>
      <p:pic>
        <p:nvPicPr>
          <p:cNvPr id="130" name="" descr=""/>
          <p:cNvPicPr/>
          <p:nvPr/>
        </p:nvPicPr>
        <p:blipFill>
          <a:blip r:embed="rId2"/>
          <a:stretch/>
        </p:blipFill>
        <p:spPr>
          <a:xfrm>
            <a:off x="4870800" y="1064160"/>
            <a:ext cx="4680360" cy="35103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89" dur="indefinite" restart="never" nodeType="tmRoot">
          <p:childTnLst>
            <p:seq>
              <p:cTn id="9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Shape 1"/>
          <p:cNvSpPr txBox="1"/>
          <p:nvPr/>
        </p:nvSpPr>
        <p:spPr>
          <a:xfrm>
            <a:off x="504000" y="197280"/>
            <a:ext cx="9071640" cy="444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latin typeface="Arial"/>
                <a:ea typeface="AR PL SungtiL GB"/>
              </a:rPr>
              <a:t>Tablet, links: </a:t>
            </a:r>
            <a:r>
              <a:rPr b="0" lang="de-DE" sz="2800" spc="-1" strike="noStrike">
                <a:latin typeface="Arial"/>
              </a:rPr>
              <a:t>ACO</a:t>
            </a:r>
            <a:r>
              <a:rPr b="0" lang="de-DE" sz="2800" spc="-1" strike="noStrike" baseline="-33000">
                <a:latin typeface="Arial"/>
              </a:rPr>
              <a:t>R</a:t>
            </a:r>
            <a:r>
              <a:rPr b="0" lang="de-DE" sz="2800" spc="-1" strike="noStrike">
                <a:latin typeface="Arial"/>
              </a:rPr>
              <a:t>-simple, rechts: ACO</a:t>
            </a:r>
            <a:r>
              <a:rPr b="0" lang="de-DE" sz="2800" spc="-1" strike="noStrike" baseline="-33000">
                <a:latin typeface="Arial"/>
              </a:rPr>
              <a:t>R</a:t>
            </a:r>
            <a:r>
              <a:rPr b="0" lang="de-DE" sz="2800" spc="-1" strike="noStrike">
                <a:latin typeface="Arial"/>
              </a:rPr>
              <a:t> -very-simple</a:t>
            </a: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de-DE" sz="2800" spc="-1" strike="noStrike">
              <a:latin typeface="Arial"/>
            </a:endParaRPr>
          </a:p>
        </p:txBody>
      </p:sp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491400" y="871920"/>
            <a:ext cx="4775760" cy="3581640"/>
          </a:xfrm>
          <a:prstGeom prst="rect">
            <a:avLst/>
          </a:prstGeom>
          <a:ln>
            <a:noFill/>
          </a:ln>
        </p:spPr>
      </p:pic>
      <p:pic>
        <p:nvPicPr>
          <p:cNvPr id="133" name="" descr=""/>
          <p:cNvPicPr/>
          <p:nvPr/>
        </p:nvPicPr>
        <p:blipFill>
          <a:blip r:embed="rId2"/>
          <a:stretch/>
        </p:blipFill>
        <p:spPr>
          <a:xfrm>
            <a:off x="5029560" y="846720"/>
            <a:ext cx="4898160" cy="36734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91" dur="indefinite" restart="never" nodeType="tmRoot">
          <p:childTnLst>
            <p:seq>
              <p:cTn id="9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Shape 1"/>
          <p:cNvSpPr txBox="1"/>
          <p:nvPr/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de-DE" sz="4400" spc="-1" strike="noStrike">
                <a:latin typeface="Arial"/>
              </a:rPr>
              <a:t>Auswertung der Einflüsse der Parameter</a:t>
            </a:r>
            <a:endParaRPr b="0" lang="de-DE" sz="4400" spc="-1" strike="noStrike">
              <a:latin typeface="Arial"/>
            </a:endParaRPr>
          </a:p>
        </p:txBody>
      </p:sp>
      <p:sp>
        <p:nvSpPr>
          <p:cNvPr id="135" name="TextShape 2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Einflüsse für Parameter sind ähnlich, jedoch nur für q gleich mit Sicherheit</a:t>
            </a:r>
            <a:endParaRPr b="0" lang="de-DE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  <a:ea typeface="AR PL SungtiL GB"/>
              </a:rPr>
              <a:t>in Socha und Dorigo [6] findet keine Erwähnung statt, ob mit kleineren </a:t>
            </a:r>
            <a:r>
              <a:rPr b="0" lang="de-DE" sz="3200" spc="-1" strike="noStrike">
                <a:latin typeface="Arial"/>
              </a:rPr>
              <a:t>ξ experimentiert wurde</a:t>
            </a:r>
            <a:endParaRPr b="0" lang="de-DE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  <a:ea typeface="AR PL SungtiL GB"/>
              </a:rPr>
              <a:t>wenn wir davon ausgehen, dass damit </a:t>
            </a:r>
            <a:r>
              <a:rPr b="0" lang="de-DE" sz="3200" spc="-1" strike="noStrike">
                <a:latin typeface="Arial"/>
              </a:rPr>
              <a:t>experimentiert wurde, wurde nichts berichtet, also konvergierte der Algorithmus</a:t>
            </a:r>
            <a:endParaRPr b="0" lang="de-DE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  <a:ea typeface="AR PL SungtiL GB"/>
              </a:rPr>
              <a:t>wenn Algorithmus konvergierte, sind Einflüsse bzgl. des Parameters </a:t>
            </a:r>
            <a:r>
              <a:rPr b="0" lang="de-DE" sz="3200" spc="-1" strike="noStrike">
                <a:latin typeface="Arial"/>
              </a:rPr>
              <a:t>ξ verschieden</a:t>
            </a:r>
            <a:endParaRPr b="0" lang="de-DE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ξ optimal gewählt</a:t>
            </a:r>
            <a:endParaRPr b="0" lang="de-DE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q sollte möglichst klein sein</a:t>
            </a:r>
            <a:endParaRPr b="0" lang="de-DE" sz="3200" spc="-1" strike="noStrike">
              <a:latin typeface="Arial"/>
            </a:endParaRPr>
          </a:p>
        </p:txBody>
      </p:sp>
    </p:spTree>
  </p:cSld>
  <p:timing>
    <p:tnLst>
      <p:par>
        <p:cTn id="93" dur="indefinite" restart="never" nodeType="tmRoot">
          <p:childTnLst>
            <p:seq>
              <p:cTn id="9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Shape 1"/>
          <p:cNvSpPr txBox="1"/>
          <p:nvPr/>
        </p:nvSpPr>
        <p:spPr>
          <a:xfrm>
            <a:off x="504000" y="146520"/>
            <a:ext cx="9071640" cy="1105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de-DE" sz="3200" spc="-1" strike="noStrike">
                <a:latin typeface="Arial"/>
              </a:rPr>
              <a:t>Vergleich zweier Intervallberechnungen für ACO</a:t>
            </a:r>
            <a:r>
              <a:rPr b="0" lang="de-DE" sz="3200" spc="-1" strike="noStrike" baseline="-33000">
                <a:latin typeface="Arial"/>
              </a:rPr>
              <a:t>R</a:t>
            </a:r>
            <a:r>
              <a:rPr b="0" lang="de-DE" sz="3200" spc="-1" strike="noStrike">
                <a:latin typeface="Arial"/>
              </a:rPr>
              <a:t>-simple und ACO</a:t>
            </a:r>
            <a:r>
              <a:rPr b="0" lang="de-DE" sz="3200" spc="-1" strike="noStrike" baseline="-33000">
                <a:latin typeface="Arial"/>
              </a:rPr>
              <a:t>R</a:t>
            </a:r>
            <a:r>
              <a:rPr b="0" lang="de-DE" sz="3200" spc="-1" strike="noStrike">
                <a:latin typeface="Arial"/>
              </a:rPr>
              <a:t>-very-simple</a:t>
            </a:r>
            <a:endParaRPr b="0" lang="de-DE" sz="3200" spc="-1" strike="noStrike">
              <a:latin typeface="Arial"/>
            </a:endParaRPr>
          </a:p>
        </p:txBody>
      </p:sp>
      <p:sp>
        <p:nvSpPr>
          <p:cNvPr id="137" name="TextShape 2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in Socha und Dorigo [6] wurde lineare Abweichung als Standardabweichung bezeichnet</a:t>
            </a:r>
            <a:endParaRPr b="0" lang="de-DE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  <a:ea typeface="AR PL SungtiL GB"/>
              </a:rPr>
              <a:t>Überprüfen, ob Standardabweichung bezeichnet besser als </a:t>
            </a:r>
            <a:r>
              <a:rPr b="0" lang="de-DE" sz="3200" spc="-1" strike="noStrike">
                <a:latin typeface="Arial"/>
              </a:rPr>
              <a:t>lineare Abweichung</a:t>
            </a:r>
            <a:endParaRPr b="0" lang="de-DE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  <a:ea typeface="AR PL SungtiL GB"/>
              </a:rPr>
              <a:t>ACO</a:t>
            </a:r>
            <a:r>
              <a:rPr b="0" lang="de-DE" sz="3200" spc="-1" strike="noStrike" baseline="-33000">
                <a:latin typeface="Arial"/>
                <a:ea typeface="AR PL SungtiL GB"/>
              </a:rPr>
              <a:t>R</a:t>
            </a:r>
            <a:r>
              <a:rPr b="0" lang="de-DE" sz="3200" spc="-1" strike="noStrike">
                <a:latin typeface="Arial"/>
                <a:ea typeface="AR PL SungtiL GB"/>
              </a:rPr>
              <a:t>-simple und ACO</a:t>
            </a:r>
            <a:r>
              <a:rPr b="0" lang="de-DE" sz="3200" spc="-1" strike="noStrike" baseline="-33000">
                <a:latin typeface="Arial"/>
                <a:ea typeface="AR PL SungtiL GB"/>
              </a:rPr>
              <a:t>R</a:t>
            </a:r>
            <a:r>
              <a:rPr b="0" lang="de-DE" sz="3200" spc="-1" strike="noStrike">
                <a:latin typeface="Arial"/>
                <a:ea typeface="AR PL SungtiL GB"/>
              </a:rPr>
              <a:t>-very-simple konvergeiren für keine Testfunktion mit </a:t>
            </a:r>
            <a:r>
              <a:rPr b="0" lang="de-DE" sz="3200" spc="-1" strike="noStrike">
                <a:latin typeface="Arial"/>
              </a:rPr>
              <a:t>Standardabweichung, außer „Ellipsoid“</a:t>
            </a:r>
            <a:endParaRPr b="0" lang="de-DE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lineare Abweichung liefert bessere Intervalle</a:t>
            </a:r>
            <a:endParaRPr b="0" lang="de-DE" sz="3200" spc="-1" strike="noStrike">
              <a:latin typeface="Arial"/>
            </a:endParaRPr>
          </a:p>
        </p:txBody>
      </p:sp>
    </p:spTree>
  </p:cSld>
  <p:timing>
    <p:tnLst>
      <p:par>
        <p:cTn id="95" dur="indefinite" restart="never" nodeType="tmRoot">
          <p:childTnLst>
            <p:seq>
              <p:cTn id="9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Shape 1"/>
          <p:cNvSpPr txBox="1"/>
          <p:nvPr/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de-DE" sz="3200" spc="-1" strike="noStrike">
              <a:latin typeface="Arial"/>
            </a:endParaRPr>
          </a:p>
        </p:txBody>
      </p:sp>
      <p:pic>
        <p:nvPicPr>
          <p:cNvPr id="139" name="" descr=""/>
          <p:cNvPicPr/>
          <p:nvPr/>
        </p:nvPicPr>
        <p:blipFill>
          <a:blip r:embed="rId1"/>
          <a:stretch/>
        </p:blipFill>
        <p:spPr>
          <a:xfrm>
            <a:off x="207000" y="604440"/>
            <a:ext cx="4953600" cy="3715200"/>
          </a:xfrm>
          <a:prstGeom prst="rect">
            <a:avLst/>
          </a:prstGeom>
          <a:ln>
            <a:noFill/>
          </a:ln>
        </p:spPr>
      </p:pic>
      <p:pic>
        <p:nvPicPr>
          <p:cNvPr id="140" name="" descr=""/>
          <p:cNvPicPr/>
          <p:nvPr/>
        </p:nvPicPr>
        <p:blipFill>
          <a:blip r:embed="rId2"/>
          <a:stretch/>
        </p:blipFill>
        <p:spPr>
          <a:xfrm>
            <a:off x="4998960" y="604800"/>
            <a:ext cx="4953240" cy="37148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97" dur="indefinite" restart="never" nodeType="tmRoot">
          <p:childTnLst>
            <p:seq>
              <p:cTn id="9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Shape 1"/>
          <p:cNvSpPr txBox="1"/>
          <p:nvPr/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de-DE" sz="3200" spc="-1" strike="noStrike">
              <a:latin typeface="Arial"/>
            </a:endParaRPr>
          </a:p>
        </p:txBody>
      </p:sp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-10440" y="830160"/>
            <a:ext cx="5157360" cy="3867840"/>
          </a:xfrm>
          <a:prstGeom prst="rect">
            <a:avLst/>
          </a:prstGeom>
          <a:ln>
            <a:noFill/>
          </a:ln>
        </p:spPr>
      </p:pic>
      <p:pic>
        <p:nvPicPr>
          <p:cNvPr id="143" name="" descr=""/>
          <p:cNvPicPr/>
          <p:nvPr/>
        </p:nvPicPr>
        <p:blipFill>
          <a:blip r:embed="rId2"/>
          <a:stretch/>
        </p:blipFill>
        <p:spPr>
          <a:xfrm>
            <a:off x="4898880" y="813600"/>
            <a:ext cx="5153760" cy="38653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99" dur="indefinite" restart="never" nodeType="tmRoot">
          <p:childTnLst>
            <p:seq>
              <p:cTn id="10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Shape 1"/>
          <p:cNvSpPr txBox="1"/>
          <p:nvPr/>
        </p:nvSpPr>
        <p:spPr>
          <a:xfrm>
            <a:off x="504000" y="195120"/>
            <a:ext cx="9071640" cy="1008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de-DE" sz="3200" spc="-1" strike="noStrike">
                <a:latin typeface="Arial"/>
              </a:rPr>
              <a:t>Vergleich von ACO</a:t>
            </a:r>
            <a:r>
              <a:rPr b="0" lang="de-DE" sz="3200" spc="-1" strike="noStrike" baseline="-33000">
                <a:latin typeface="Arial"/>
              </a:rPr>
              <a:t>R</a:t>
            </a:r>
            <a:r>
              <a:rPr b="0" lang="de-DE" sz="3200" spc="-1" strike="noStrike">
                <a:latin typeface="Arial"/>
              </a:rPr>
              <a:t>, ACO</a:t>
            </a:r>
            <a:r>
              <a:rPr b="0" lang="de-DE" sz="3200" spc="-1" strike="noStrike" baseline="-33000">
                <a:latin typeface="Arial"/>
              </a:rPr>
              <a:t>R</a:t>
            </a:r>
            <a:r>
              <a:rPr b="0" lang="de-DE" sz="3200" spc="-1" strike="noStrike">
                <a:latin typeface="Arial"/>
              </a:rPr>
              <a:t>-simple und ACO</a:t>
            </a:r>
            <a:r>
              <a:rPr b="0" lang="de-DE" sz="3200" spc="-1" strike="noStrike" baseline="-33000">
                <a:latin typeface="Arial"/>
              </a:rPr>
              <a:t>R</a:t>
            </a:r>
            <a:r>
              <a:rPr b="0" lang="de-DE" sz="3200" spc="-1" strike="noStrike">
                <a:latin typeface="Arial"/>
              </a:rPr>
              <a:t> -very-simple</a:t>
            </a:r>
            <a:endParaRPr b="0" lang="de-DE" sz="3200" spc="-1" strike="noStrike">
              <a:latin typeface="Arial"/>
            </a:endParaRPr>
          </a:p>
        </p:txBody>
      </p:sp>
      <p:sp>
        <p:nvSpPr>
          <p:cNvPr id="145" name="TextShape 2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600" spc="-1" strike="noStrike">
                <a:latin typeface="Arial"/>
              </a:rPr>
              <a:t>es werden immer die Bestwerte aller am Vergleich beteiligten Algorithmen angezeit</a:t>
            </a:r>
            <a:endParaRPr b="0" lang="de-DE" sz="26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600" spc="-1" strike="noStrike">
                <a:latin typeface="Arial"/>
                <a:ea typeface="AR PL SungtiL GB"/>
              </a:rPr>
              <a:t>wenn mit </a:t>
            </a:r>
            <a:r>
              <a:rPr b="0" lang="de-DE" sz="2600" spc="-1" strike="noStrike">
                <a:latin typeface="Arial"/>
              </a:rPr>
              <a:t>ACO</a:t>
            </a:r>
            <a:r>
              <a:rPr b="0" lang="de-DE" sz="2600" spc="-1" strike="noStrike" baseline="-33000">
                <a:latin typeface="Arial"/>
              </a:rPr>
              <a:t>R</a:t>
            </a:r>
            <a:r>
              <a:rPr b="0" lang="de-DE" sz="2600" spc="-1" strike="noStrike">
                <a:latin typeface="Arial"/>
              </a:rPr>
              <a:t> verglichen wird, wir auch gleichzeitig mit allen Algorithmen aus [6] verglichen</a:t>
            </a:r>
            <a:endParaRPr b="0" lang="de-DE" sz="26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600" spc="-1" strike="noStrike">
                <a:latin typeface="Arial"/>
                <a:ea typeface="AR PL SungtiL GB"/>
              </a:rPr>
              <a:t>wenn </a:t>
            </a:r>
            <a:r>
              <a:rPr b="0" lang="de-DE" sz="2600" spc="-1" strike="noStrike">
                <a:latin typeface="Arial"/>
              </a:rPr>
              <a:t>ACO</a:t>
            </a:r>
            <a:r>
              <a:rPr b="0" lang="de-DE" sz="2600" spc="-1" strike="noStrike" baseline="-33000">
                <a:latin typeface="Arial"/>
              </a:rPr>
              <a:t>R</a:t>
            </a:r>
            <a:r>
              <a:rPr b="0" lang="de-DE" sz="2600" spc="-1" strike="noStrike">
                <a:latin typeface="Arial"/>
              </a:rPr>
              <a:t>-simple und ACO</a:t>
            </a:r>
            <a:r>
              <a:rPr b="0" lang="de-DE" sz="2600" spc="-1" strike="noStrike" baseline="-33000">
                <a:latin typeface="Arial"/>
              </a:rPr>
              <a:t>R</a:t>
            </a:r>
            <a:r>
              <a:rPr b="0" lang="de-DE" sz="2600" spc="-1" strike="noStrike">
                <a:latin typeface="Arial"/>
              </a:rPr>
              <a:t> -very-simple verglichen werden, werden nur diese beiden Aglrothmen verglichen</a:t>
            </a:r>
            <a:endParaRPr b="0" lang="de-DE" sz="26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600" spc="-1" strike="noStrike">
                <a:latin typeface="Arial"/>
                <a:ea typeface="AR PL SungtiL GB"/>
              </a:rPr>
              <a:t>Wir gehen davo aus, dass </a:t>
            </a:r>
            <a:r>
              <a:rPr b="0" lang="de-DE" sz="2600" spc="-1" strike="noStrike">
                <a:latin typeface="Arial"/>
              </a:rPr>
              <a:t>ACO</a:t>
            </a:r>
            <a:r>
              <a:rPr b="0" lang="de-DE" sz="2600" spc="-1" strike="noStrike" baseline="-33000">
                <a:latin typeface="Arial"/>
              </a:rPr>
              <a:t>R</a:t>
            </a:r>
            <a:r>
              <a:rPr b="0" lang="de-DE" sz="2600" spc="-1" strike="noStrike">
                <a:latin typeface="Arial"/>
              </a:rPr>
              <a:t> -very-simple besser bei einfacheren Problem ist, jedoch schlechter bei schwereren</a:t>
            </a:r>
            <a:endParaRPr b="0" lang="de-DE" sz="2600" spc="-1" strike="noStrike">
              <a:latin typeface="Arial"/>
            </a:endParaRPr>
          </a:p>
        </p:txBody>
      </p:sp>
    </p:spTree>
  </p:cSld>
  <p:timing>
    <p:tnLst>
      <p:par>
        <p:cTn id="101" dur="indefinite" restart="never" nodeType="tmRoot">
          <p:childTnLst>
            <p:seq>
              <p:cTn id="10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de-DE" sz="4400" spc="-1" strike="noStrike">
                <a:latin typeface="Arial"/>
              </a:rPr>
              <a:t>Konvergenzbetrachtung</a:t>
            </a:r>
            <a:endParaRPr b="0" lang="de-DE" sz="4400" spc="-1" strike="noStrike">
              <a:latin typeface="Arial"/>
            </a:endParaRPr>
          </a:p>
        </p:txBody>
      </p:sp>
      <p:sp>
        <p:nvSpPr>
          <p:cNvPr id="147" name="TextShape 2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  <a:ea typeface="AR PL SungtiL GB"/>
              </a:rPr>
              <a:t>ACO</a:t>
            </a:r>
            <a:r>
              <a:rPr b="0" lang="de-DE" sz="3200" spc="-1" strike="noStrike" baseline="-33000">
                <a:latin typeface="Arial"/>
                <a:ea typeface="AR PL SungtiL GB"/>
              </a:rPr>
              <a:t>R</a:t>
            </a:r>
            <a:r>
              <a:rPr b="0" lang="de-DE" sz="3200" spc="-1" strike="noStrike">
                <a:latin typeface="Arial"/>
                <a:ea typeface="AR PL SungtiL GB"/>
              </a:rPr>
              <a:t>-very-simple sehr einfach, somit schnell, sehr wahrscheinlich schneller als </a:t>
            </a:r>
            <a:r>
              <a:rPr b="0" lang="de-DE" sz="3200" spc="-1" strike="noStrike">
                <a:latin typeface="Arial"/>
              </a:rPr>
              <a:t>ACO</a:t>
            </a:r>
            <a:r>
              <a:rPr b="0" lang="de-DE" sz="3200" spc="-1" strike="noStrike" baseline="-33000">
                <a:latin typeface="Arial"/>
              </a:rPr>
              <a:t>R</a:t>
            </a:r>
            <a:endParaRPr b="0" lang="de-DE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  <a:ea typeface="AR PL SungtiL GB"/>
              </a:rPr>
              <a:t>Im Normalfall sinnvoller Anzahl der Funktionsauswertungen als Vergleichsmaß zu nehmen, aber </a:t>
            </a:r>
            <a:r>
              <a:rPr b="0" lang="de-DE" sz="3200" spc="-1" strike="noStrike">
                <a:latin typeface="Arial"/>
              </a:rPr>
              <a:t>ACO</a:t>
            </a:r>
            <a:r>
              <a:rPr b="0" lang="de-DE" sz="3200" spc="-1" strike="noStrike" baseline="-33000">
                <a:latin typeface="Arial"/>
              </a:rPr>
              <a:t>R</a:t>
            </a:r>
            <a:r>
              <a:rPr b="0" lang="de-DE" sz="3200" spc="-1" strike="noStrike">
                <a:latin typeface="Arial"/>
              </a:rPr>
              <a:t> wahrscheinlich von keiner kleinen Zeitkomplexität</a:t>
            </a:r>
            <a:endParaRPr b="0" lang="de-DE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Verbesserungen des Archivs durch mitführen der Stelle des besten Wertes, anstatt insert und verwenden eines arrays für schnelleren Zugriff</a:t>
            </a:r>
            <a:endParaRPr b="0" lang="de-DE" sz="3200" spc="-1" strike="noStrike">
              <a:latin typeface="Arial"/>
            </a:endParaRPr>
          </a:p>
        </p:txBody>
      </p:sp>
    </p:spTree>
  </p:cSld>
  <p:timing>
    <p:tnLst>
      <p:par>
        <p:cTn id="103" dur="indefinite" restart="never" nodeType="tmRoot">
          <p:childTnLst>
            <p:seq>
              <p:cTn id="10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Shape 1"/>
          <p:cNvSpPr txBox="1"/>
          <p:nvPr/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latin typeface="Arial"/>
              </a:rPr>
              <a:t>Rosenbrockfunktion nimmt ihren Optimalwert y=0 an bei x = [1, 1, 1, 1, 1, 1, 1, 1, 1, 1]</a:t>
            </a: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latin typeface="Arial"/>
              </a:rPr>
              <a:t>durchschnittlich berechnete Funktionswert bei 10000 Funktionsauswertungen war ungefähr y=13, mit x</a:t>
            </a:r>
            <a:r>
              <a:rPr b="0" lang="de-DE" sz="2800" spc="-1" strike="noStrike" baseline="-33000">
                <a:latin typeface="Arial"/>
              </a:rPr>
              <a:t>i</a:t>
            </a:r>
            <a:r>
              <a:rPr b="0" lang="de-DE" sz="2800" spc="-1" strike="noStrike">
                <a:latin typeface="Arial"/>
              </a:rPr>
              <a:t> ∈ [−1, 1] ∀i ∈ {1, 2, 3, …, 10}</a:t>
            </a: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latin typeface="Arial"/>
              </a:rPr>
              <a:t>Funktionswert etwas weiter entfernt vom Optimum aber x ist nah dran am Argument des Optimums</a:t>
            </a:r>
            <a:endParaRPr b="0" lang="de-DE" sz="2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latin typeface="Arial"/>
              </a:rPr>
              <a:t>ACO</a:t>
            </a:r>
            <a:r>
              <a:rPr b="0" lang="de-DE" sz="2800" spc="-1" strike="noStrike" baseline="-33000">
                <a:latin typeface="Arial"/>
              </a:rPr>
              <a:t>R</a:t>
            </a:r>
            <a:r>
              <a:rPr b="0" lang="de-DE" sz="2800" spc="-1" strike="noStrike">
                <a:latin typeface="Arial"/>
              </a:rPr>
              <a:t>-very-simple hinreichend gut auch bei der Funktion, wo der Algorithmus das Optimum nicht findet</a:t>
            </a:r>
            <a:endParaRPr b="0" lang="de-DE" sz="2800" spc="-1" strike="noStrike">
              <a:latin typeface="Arial"/>
            </a:endParaRPr>
          </a:p>
        </p:txBody>
      </p:sp>
    </p:spTree>
  </p:cSld>
  <p:timing>
    <p:tnLst>
      <p:par>
        <p:cTn id="105" dur="indefinite" restart="never" nodeType="tmRoot">
          <p:childTnLst>
            <p:seq>
              <p:cTn id="10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de-DE" sz="4400" spc="-1" strike="noStrike">
                <a:latin typeface="Arial"/>
              </a:rPr>
              <a:t>Kurzzusammenfassung</a:t>
            </a:r>
            <a:endParaRPr b="0" lang="de-DE" sz="4400" spc="-1" strike="noStrike">
              <a:latin typeface="Arial"/>
            </a:endParaRPr>
          </a:p>
        </p:txBody>
      </p:sp>
      <p:sp>
        <p:nvSpPr>
          <p:cNvPr id="150" name="TextShape 2"/>
          <p:cNvSpPr txBox="1"/>
          <p:nvPr/>
        </p:nvSpPr>
        <p:spPr>
          <a:xfrm>
            <a:off x="504000" y="1072800"/>
            <a:ext cx="9071640" cy="3796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600" spc="-1" strike="noStrike">
                <a:latin typeface="Arial"/>
              </a:rPr>
              <a:t>erstaunlich, wie gut die Vereinfachung abschneidet</a:t>
            </a:r>
            <a:endParaRPr b="0" lang="de-DE" sz="26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600" spc="-1" strike="noStrike">
                <a:latin typeface="Arial"/>
                <a:ea typeface="AR PL SungtiL GB"/>
              </a:rPr>
              <a:t>ACO</a:t>
            </a:r>
            <a:r>
              <a:rPr b="0" lang="de-DE" sz="2600" spc="-1" strike="noStrike" baseline="-33000">
                <a:latin typeface="Arial"/>
                <a:ea typeface="AR PL SungtiL GB"/>
              </a:rPr>
              <a:t>R</a:t>
            </a:r>
            <a:r>
              <a:rPr b="0" lang="de-DE" sz="2600" spc="-1" strike="noStrike">
                <a:latin typeface="Arial"/>
                <a:ea typeface="AR PL SungtiL GB"/>
              </a:rPr>
              <a:t>-very-simple der beste Algorithmus bei 12 von 24, somit ACO</a:t>
            </a:r>
            <a:r>
              <a:rPr b="0" lang="de-DE" sz="2600" spc="-1" strike="noStrike" baseline="-33000">
                <a:latin typeface="Arial"/>
                <a:ea typeface="AR PL SungtiL GB"/>
              </a:rPr>
              <a:t>R</a:t>
            </a:r>
            <a:r>
              <a:rPr b="0" lang="de-DE" sz="2600" spc="-1" strike="noStrike">
                <a:latin typeface="Arial"/>
                <a:ea typeface="AR PL SungtiL GB"/>
              </a:rPr>
              <a:t> überlegen</a:t>
            </a:r>
            <a:endParaRPr b="0" lang="de-DE" sz="26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600" spc="-1" strike="noStrike">
                <a:latin typeface="Arial"/>
                <a:ea typeface="AR PL SungtiL GB"/>
              </a:rPr>
              <a:t>ACO</a:t>
            </a:r>
            <a:r>
              <a:rPr b="0" lang="de-DE" sz="2600" spc="-1" strike="noStrike" baseline="-33000">
                <a:latin typeface="Arial"/>
                <a:ea typeface="AR PL SungtiL GB"/>
              </a:rPr>
              <a:t>R</a:t>
            </a:r>
            <a:r>
              <a:rPr b="0" lang="de-DE" sz="2600" spc="-1" strike="noStrike">
                <a:latin typeface="Arial"/>
                <a:ea typeface="AR PL SungtiL GB"/>
              </a:rPr>
              <a:t>-very-simple kann unter bestimmten Umständen auf ein exaktes Ergebnis verzichten</a:t>
            </a:r>
            <a:endParaRPr b="0" lang="de-DE" sz="26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600" spc="-1" strike="noStrike">
                <a:latin typeface="Arial"/>
                <a:ea typeface="AR PL SungtiL GB"/>
              </a:rPr>
              <a:t>Intuition lag falsch, da es ACO</a:t>
            </a:r>
            <a:r>
              <a:rPr b="0" lang="de-DE" sz="2600" spc="-1" strike="noStrike" baseline="-33000">
                <a:latin typeface="Arial"/>
                <a:ea typeface="AR PL SungtiL GB"/>
              </a:rPr>
              <a:t>R</a:t>
            </a:r>
            <a:r>
              <a:rPr b="0" lang="de-DE" sz="2600" spc="-1" strike="noStrike">
                <a:latin typeface="Arial"/>
                <a:ea typeface="AR PL SungtiL GB"/>
              </a:rPr>
              <a:t>-very-simple ist, der sich mit ACO</a:t>
            </a:r>
            <a:r>
              <a:rPr b="0" lang="de-DE" sz="2600" spc="-1" strike="noStrike" baseline="-33000">
                <a:latin typeface="Arial"/>
                <a:ea typeface="AR PL SungtiL GB"/>
              </a:rPr>
              <a:t>R</a:t>
            </a:r>
            <a:r>
              <a:rPr b="0" lang="de-DE" sz="2600" spc="-1" strike="noStrike">
                <a:latin typeface="Arial"/>
                <a:ea typeface="AR PL SungtiL GB"/>
              </a:rPr>
              <a:t> messen kann</a:t>
            </a:r>
            <a:endParaRPr b="0" lang="de-DE" sz="26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600" spc="-1" strike="noStrike">
                <a:latin typeface="Arial"/>
                <a:ea typeface="AR PL SungtiL GB"/>
              </a:rPr>
              <a:t>ACO</a:t>
            </a:r>
            <a:r>
              <a:rPr b="0" lang="de-DE" sz="2600" spc="-1" strike="noStrike" baseline="-33000">
                <a:latin typeface="Arial"/>
                <a:ea typeface="AR PL SungtiL GB"/>
              </a:rPr>
              <a:t>R</a:t>
            </a:r>
            <a:r>
              <a:rPr b="0" lang="de-DE" sz="2600" spc="-1" strike="noStrike">
                <a:latin typeface="Arial"/>
                <a:ea typeface="AR PL SungtiL GB"/>
              </a:rPr>
              <a:t>-very-simple ist in der Tat Verbesserung bzgl. Vereinfachung der Lösungsfindung</a:t>
            </a:r>
            <a:endParaRPr b="0" lang="de-DE" sz="2600" spc="-1" strike="noStrike">
              <a:latin typeface="Arial"/>
            </a:endParaRPr>
          </a:p>
        </p:txBody>
      </p:sp>
    </p:spTree>
  </p:cSld>
  <p:timing>
    <p:tnLst>
      <p:par>
        <p:cTn id="107" dur="indefinite" restart="never" nodeType="tmRoot">
          <p:childTnLst>
            <p:seq>
              <p:cTn id="10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de-DE" sz="4400" spc="-1" strike="noStrike">
                <a:latin typeface="Arial"/>
              </a:rPr>
              <a:t>Quellen</a:t>
            </a:r>
            <a:endParaRPr b="0" lang="de-DE" sz="4400" spc="-1" strike="noStrike">
              <a:latin typeface="Arial"/>
            </a:endParaRPr>
          </a:p>
        </p:txBody>
      </p:sp>
      <p:sp>
        <p:nvSpPr>
          <p:cNvPr id="152" name="TextShape 2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[1] Bilchev, G. ; Parmee, I. C.: The ant colony metaphor for searching continuous design spaces. In: AISB workshop on evolutionary computing Springer, 1995, S. 25–39</a:t>
            </a:r>
            <a:endParaRPr b="0" lang="de-DE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[2] Guntsch, M. ; Middendorf, M. : A population based approach for ACO. In: Workshops on Applications of 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 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Evolutionary Computation Springer, 2002, S. 72–81</a:t>
            </a:r>
            <a:endParaRPr b="0" lang="de-DE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[3] Kern, S. ; Müller, S. D. ; Hansen, N. ; Büche, D. ; Ocenasek, J. ; Koumoutsakos, P. : Learning probability 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 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distributions in continuous evolutionary algorithms–a comparative review. In: Natural Computing 3 (2004), Nr. 1, S. 77–112</a:t>
            </a:r>
            <a:endParaRPr b="0" lang="de-DE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[4] Middendorf, M. : Verfahren der Schwarmintelligenz. In: Vorlesung Verfahren der Schwarmintelligenz (2017)</a:t>
            </a:r>
            <a:endParaRPr b="0" lang="de-DE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[5] Molga, M. ; Smutnicki, C. : Test functions for optimization needs. In: Test functions for optimization needs 101 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 (2005)</a:t>
            </a:r>
            <a:endParaRPr b="0" lang="de-DE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[6] Socha, K. ; Dorigo, M. : Ant colony optimization for continuous domains. In: European journal of operational 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	</a:t>
            </a:r>
            <a:r>
              <a:rPr b="0" lang="de-DE" sz="3200" spc="-1" strike="noStrike">
                <a:latin typeface="Arial"/>
              </a:rPr>
              <a:t> research 185 (2008), Nr. 3, S. 1155–1173</a:t>
            </a:r>
            <a:endParaRPr b="0" lang="de-DE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[7] Surjanovic, S. ; Bingham, D. : Virtual Library of Simulation Experiments: Test </a:t>
            </a:r>
            <a:r>
              <a:rPr b="0" lang="de-DE" sz="3200" spc="-1" strike="noStrike">
                <a:latin typeface="Arial"/>
                <a:ea typeface="AR PL SungtiL GB"/>
              </a:rPr>
              <a:t>Function and Datasets. In: https://www.sfu.ca/∼ssurjano/shekel.html (abgerufen </a:t>
            </a:r>
            <a:r>
              <a:rPr b="0" lang="de-DE" sz="3200" spc="-1" strike="noStrike">
                <a:latin typeface="Arial"/>
              </a:rPr>
              <a:t>am 17.08.2019)</a:t>
            </a:r>
            <a:endParaRPr b="0" lang="de-DE" sz="3200" spc="-1" strike="noStrike">
              <a:latin typeface="Arial"/>
            </a:endParaRPr>
          </a:p>
        </p:txBody>
      </p:sp>
    </p:spTree>
  </p:cSld>
  <p:timing>
    <p:tnLst>
      <p:par>
        <p:cTn id="109" dur="indefinite" restart="never" nodeType="tmRoot">
          <p:childTnLst>
            <p:seq>
              <p:cTn id="11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Shape 1"/>
          <p:cNvSpPr txBox="1"/>
          <p:nvPr/>
        </p:nvSpPr>
        <p:spPr>
          <a:xfrm>
            <a:off x="504000" y="22392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endParaRPr b="0" lang="de-DE" sz="3200" spc="-1" strike="noStrike">
              <a:latin typeface="Arial"/>
            </a:endParaRPr>
          </a:p>
          <a:p>
            <a:r>
              <a:rPr b="0" lang="de-DE" sz="1500" spc="-1" strike="noStrike">
                <a:latin typeface="Arial"/>
              </a:rPr>
              <a:t>[8] Surjanovic, S. ; Bingham, D. : Virtual Library of Simulation Experiments: Test Function and Datasets. In: https://www.sfu.ca/∼ssurjano/hart3.html (abgerufen am 17.08.2019)</a:t>
            </a:r>
            <a:endParaRPr b="0" lang="de-DE" sz="1500" spc="-1" strike="noStrike">
              <a:latin typeface="Arial"/>
            </a:endParaRPr>
          </a:p>
          <a:p>
            <a:r>
              <a:rPr b="0" lang="de-DE" sz="1500" spc="-1" strike="noStrike">
                <a:latin typeface="Arial"/>
              </a:rPr>
              <a:t>[9] Surjanovic, S. ; Bingham, D. : Virtual Library of Simulation Experiments: Test Function and Datasets. In: https://www.sfu.ca/∼ssurjano/hart6.html (abgerufen am 17.08.2019)</a:t>
            </a:r>
            <a:endParaRPr b="0" lang="de-DE" sz="1500" spc="-1" strike="noStrike">
              <a:latin typeface="Arial"/>
            </a:endParaRPr>
          </a:p>
          <a:p>
            <a:r>
              <a:rPr b="0" lang="de-DE" sz="1500" spc="-1" strike="noStrike">
                <a:latin typeface="Arial"/>
              </a:rPr>
              <a:t>[10] Surjanovic, S. ; Bingham, D. : Virtual Library of Simulation Experiments: Test Function and Datasets. In: https://www.sfu.ca/∼ssurjano/branin.html (abgerufen am 19.08.2019)</a:t>
            </a:r>
            <a:endParaRPr b="0" lang="de-DE" sz="1500" spc="-1" strike="noStrike">
              <a:latin typeface="Arial"/>
            </a:endParaRPr>
          </a:p>
          <a:p>
            <a:endParaRPr b="0" lang="de-DE" sz="1500" spc="-1" strike="noStrike">
              <a:latin typeface="Arial"/>
            </a:endParaRPr>
          </a:p>
          <a:p>
            <a:r>
              <a:rPr b="0" lang="de-DE" sz="1500" spc="-1" strike="noStrike">
                <a:latin typeface="Arial"/>
              </a:rPr>
              <a:t>[11] Surjanovic, S. ; Bingham, D. : Virtual Library of Simulation Experiments: Test Function and Datasets. In: https://www.sfu.ca/∼ssurjano/goldpr.html (abgerufen am 19.08.2019)</a:t>
            </a:r>
            <a:endParaRPr b="0" lang="de-DE" sz="1500" spc="-1" strike="noStrike">
              <a:latin typeface="Arial"/>
            </a:endParaRPr>
          </a:p>
        </p:txBody>
      </p:sp>
    </p:spTree>
  </p:cSld>
  <p:timing>
    <p:tnLst>
      <p:par>
        <p:cTn id="111" dur="indefinite" restart="never" nodeType="tmRoot">
          <p:childTnLst>
            <p:seq>
              <p:cTn id="11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Shape 1"/>
          <p:cNvSpPr txBox="1"/>
          <p:nvPr/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de-DE" sz="3200" spc="-1" strike="noStrike">
                <a:latin typeface="Arial"/>
              </a:rPr>
              <a:t>Fragen</a:t>
            </a:r>
            <a:endParaRPr b="0" lang="de-DE" sz="3200" spc="-1" strike="noStrike">
              <a:latin typeface="Arial"/>
            </a:endParaRPr>
          </a:p>
        </p:txBody>
      </p:sp>
    </p:spTree>
  </p:cSld>
  <p:timing>
    <p:tnLst>
      <p:par>
        <p:cTn id="113" dur="indefinite" restart="never" nodeType="tmRoot">
          <p:childTnLst>
            <p:seq>
              <p:cTn id="11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541</TotalTime>
  <Application>LibreOffice/6.0.7.3$Linux_X86_64 LibreOffice_project/00m0$Build-3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2020-02-11T13:29:40Z</dcterms:created>
  <dc:creator/>
  <dc:description/>
  <dc:language>de-DE</dc:language>
  <cp:lastModifiedBy/>
  <dcterms:modified xsi:type="dcterms:W3CDTF">2020-02-12T12:41:43Z</dcterms:modified>
  <cp:revision>24</cp:revision>
  <dc:subject/>
  <dc:title/>
</cp:coreProperties>
</file>